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83" r:id="rId2"/>
    <p:sldId id="257" r:id="rId3"/>
    <p:sldId id="258" r:id="rId4"/>
    <p:sldId id="266" r:id="rId5"/>
    <p:sldId id="267" r:id="rId6"/>
    <p:sldId id="284" r:id="rId7"/>
    <p:sldId id="282" r:id="rId8"/>
    <p:sldId id="292" r:id="rId9"/>
    <p:sldId id="291" r:id="rId10"/>
    <p:sldId id="270" r:id="rId11"/>
    <p:sldId id="272" r:id="rId12"/>
    <p:sldId id="274" r:id="rId13"/>
    <p:sldId id="275" r:id="rId14"/>
    <p:sldId id="276" r:id="rId15"/>
    <p:sldId id="273" r:id="rId16"/>
    <p:sldId id="277" r:id="rId17"/>
    <p:sldId id="278" r:id="rId18"/>
    <p:sldId id="290" r:id="rId19"/>
    <p:sldId id="289" r:id="rId20"/>
    <p:sldId id="281" r:id="rId21"/>
    <p:sldId id="285" r:id="rId22"/>
    <p:sldId id="280" r:id="rId23"/>
    <p:sldId id="279" r:id="rId24"/>
    <p:sldId id="286" r:id="rId25"/>
    <p:sldId id="287" r:id="rId26"/>
    <p:sldId id="288" r:id="rId27"/>
    <p:sldId id="271" r:id="rId28"/>
    <p:sldId id="293" r:id="rId29"/>
    <p:sldId id="294" r:id="rId30"/>
    <p:sldId id="295" r:id="rId31"/>
    <p:sldId id="298" r:id="rId32"/>
    <p:sldId id="297" r:id="rId33"/>
    <p:sldId id="296" r:id="rId34"/>
    <p:sldId id="263" r:id="rId35"/>
  </p:sldIdLst>
  <p:sldSz cx="12192000" cy="6858000"/>
  <p:notesSz cx="6858000" cy="9144000"/>
  <p:embeddedFontLst>
    <p:embeddedFont>
      <p:font typeface="Play" panose="020B0604020202020204" charset="0"/>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rPr>
              <a:t>‹#›</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6324095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994102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4</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44994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5</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006672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6</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347350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7</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933856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8</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232323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9</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688424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10</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888994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11</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226399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12</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572693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13</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4207921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14</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26098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15</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276490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16</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370628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17</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88714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18</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899298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19</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024244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20</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435585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21</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9559931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22</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5558597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23</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432625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24</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002707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25</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947589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26</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322101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t>27</a:t>
            </a:fld>
            <a:endPar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5773305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cxnSp>
        <p:nvCxnSpPr>
          <p:cNvPr id="20" name="Google Shape;20;p11"/>
          <p:cNvCxnSpPr/>
          <p:nvPr/>
        </p:nvCxnSpPr>
        <p:spPr>
          <a:xfrm>
            <a:off x="0" y="6535939"/>
            <a:ext cx="12192000" cy="0"/>
          </a:xfrm>
          <a:prstGeom prst="straightConnector1">
            <a:avLst/>
          </a:prstGeom>
          <a:noFill/>
          <a:ln w="19050" cap="flat" cmpd="sng">
            <a:solidFill>
              <a:schemeClr val="accent1"/>
            </a:solidFill>
            <a:prstDash val="solid"/>
            <a:miter lim="800000"/>
            <a:headEnd type="none" w="sm" len="sm"/>
            <a:tailEnd type="none" w="sm" len="sm"/>
          </a:ln>
        </p:spPr>
      </p:cxnSp>
      <p:sp>
        <p:nvSpPr>
          <p:cNvPr id="21" name="Google Shape;21;p11"/>
          <p:cNvSpPr txBox="1">
            <a:spLocks noGrp="1"/>
          </p:cNvSpPr>
          <p:nvPr>
            <p:ph type="title"/>
          </p:nvPr>
        </p:nvSpPr>
        <p:spPr>
          <a:xfrm>
            <a:off x="292963" y="322061"/>
            <a:ext cx="10333608" cy="725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3600"/>
              <a:buFont typeface="Arial" panose="020B0604020202020204"/>
              <a:buNone/>
              <a:defRPr sz="3600">
                <a:solidFill>
                  <a:srgbClr val="002060"/>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1"/>
          <p:cNvSpPr txBox="1">
            <a:spLocks noGrp="1"/>
          </p:cNvSpPr>
          <p:nvPr>
            <p:ph type="body" idx="1"/>
          </p:nvPr>
        </p:nvSpPr>
        <p:spPr>
          <a:xfrm>
            <a:off x="292963" y="1305017"/>
            <a:ext cx="11576482" cy="4871946"/>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002060"/>
              </a:buClr>
              <a:buSzPts val="2400"/>
              <a:buChar char="•"/>
              <a:defRPr sz="2400">
                <a:solidFill>
                  <a:srgbClr val="002060"/>
                </a:solidFill>
              </a:defRPr>
            </a:lvl1pPr>
            <a:lvl2pPr marL="914400" lvl="1" indent="-355600" algn="l">
              <a:lnSpc>
                <a:spcPct val="90000"/>
              </a:lnSpc>
              <a:spcBef>
                <a:spcPts val="500"/>
              </a:spcBef>
              <a:spcAft>
                <a:spcPts val="0"/>
              </a:spcAft>
              <a:buClr>
                <a:srgbClr val="002060"/>
              </a:buClr>
              <a:buSzPts val="2000"/>
              <a:buChar char="•"/>
              <a:defRPr sz="2000">
                <a:solidFill>
                  <a:srgbClr val="002060"/>
                </a:solidFill>
              </a:defRPr>
            </a:lvl2pPr>
            <a:lvl3pPr marL="1371600" lvl="2" indent="-342900" algn="l">
              <a:lnSpc>
                <a:spcPct val="90000"/>
              </a:lnSpc>
              <a:spcBef>
                <a:spcPts val="500"/>
              </a:spcBef>
              <a:spcAft>
                <a:spcPts val="0"/>
              </a:spcAft>
              <a:buClr>
                <a:srgbClr val="002060"/>
              </a:buClr>
              <a:buSzPts val="1800"/>
              <a:buChar char="•"/>
              <a:defRPr sz="1800">
                <a:solidFill>
                  <a:srgbClr val="002060"/>
                </a:solidFill>
              </a:defRPr>
            </a:lvl3pPr>
            <a:lvl4pPr marL="1828800" lvl="3" indent="-330200" algn="l">
              <a:lnSpc>
                <a:spcPct val="90000"/>
              </a:lnSpc>
              <a:spcBef>
                <a:spcPts val="500"/>
              </a:spcBef>
              <a:spcAft>
                <a:spcPts val="0"/>
              </a:spcAft>
              <a:buClr>
                <a:srgbClr val="002060"/>
              </a:buClr>
              <a:buSzPts val="1600"/>
              <a:buChar char="•"/>
              <a:defRPr sz="1600">
                <a:solidFill>
                  <a:srgbClr val="002060"/>
                </a:solidFill>
              </a:defRPr>
            </a:lvl4pPr>
            <a:lvl5pPr marL="2286000" lvl="4" indent="-330200" algn="l">
              <a:lnSpc>
                <a:spcPct val="90000"/>
              </a:lnSpc>
              <a:spcBef>
                <a:spcPts val="500"/>
              </a:spcBef>
              <a:spcAft>
                <a:spcPts val="0"/>
              </a:spcAft>
              <a:buClr>
                <a:srgbClr val="002060"/>
              </a:buClr>
              <a:buSzPts val="1600"/>
              <a:buChar char="•"/>
              <a:defRPr sz="1600">
                <a:solidFill>
                  <a:srgbClr val="00206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11"/>
          <p:cNvSpPr txBox="1">
            <a:spLocks noGrp="1"/>
          </p:cNvSpPr>
          <p:nvPr>
            <p:ph type="sldNum" idx="12"/>
          </p:nvPr>
        </p:nvSpPr>
        <p:spPr>
          <a:xfrm>
            <a:off x="11132597" y="6356350"/>
            <a:ext cx="736847" cy="276999"/>
          </a:xfrm>
          <a:prstGeom prst="rect">
            <a:avLst/>
          </a:prstGeom>
          <a:solidFill>
            <a:srgbClr val="002060"/>
          </a:solidFill>
          <a:ln>
            <a:noFill/>
          </a:ln>
        </p:spPr>
        <p:txBody>
          <a:bodyPr spcFirstLastPara="1" wrap="square" lIns="91425" tIns="45700" rIns="91425" bIns="45700" anchor="ctr" anchorCtr="0">
            <a:noAutofit/>
          </a:bodyPr>
          <a:lstStyle>
            <a:lvl1pPr marL="0" lvl="0"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1pPr>
            <a:lvl2pPr marL="0" lvl="1"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2pPr>
            <a:lvl3pPr marL="0" lvl="2"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3pPr>
            <a:lvl4pPr marL="0" lvl="3"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4pPr>
            <a:lvl5pPr marL="0" lvl="4"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5pPr>
            <a:lvl6pPr marL="0" lvl="5"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6pPr>
            <a:lvl7pPr marL="0" lvl="6"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7pPr>
            <a:lvl8pPr marL="0" lvl="7"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8pPr>
            <a:lvl9pPr marL="0" lvl="8"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fld id="{00000000-1234-1234-1234-123412341234}" type="slidenum">
              <a:rPr lang="en-IN"/>
              <a:t>‹#›</a:t>
            </a:fld>
            <a:endParaRPr lang="en-IN"/>
          </a:p>
        </p:txBody>
      </p:sp>
      <p:pic>
        <p:nvPicPr>
          <p:cNvPr id="24" name="Google Shape;24;p11" descr="Anurag Engineering College"/>
          <p:cNvPicPr preferRelativeResize="0"/>
          <p:nvPr/>
        </p:nvPicPr>
        <p:blipFill rotWithShape="1">
          <a:blip r:embed="rId2"/>
          <a:srcRect/>
          <a:stretch>
            <a:fillRect/>
          </a:stretch>
        </p:blipFill>
        <p:spPr>
          <a:xfrm>
            <a:off x="10742824" y="322061"/>
            <a:ext cx="1221952" cy="360625"/>
          </a:xfrm>
          <a:prstGeom prst="rect">
            <a:avLst/>
          </a:prstGeom>
          <a:noFill/>
          <a:ln>
            <a:noFill/>
          </a:ln>
        </p:spPr>
      </p:pic>
      <p:sp>
        <p:nvSpPr>
          <p:cNvPr id="25" name="Google Shape;25;p11"/>
          <p:cNvSpPr txBox="1"/>
          <p:nvPr/>
        </p:nvSpPr>
        <p:spPr>
          <a:xfrm>
            <a:off x="4274806" y="6397439"/>
            <a:ext cx="3771913" cy="276999"/>
          </a:xfrm>
          <a:prstGeom prst="rect">
            <a:avLst/>
          </a:prstGeom>
          <a:solidFill>
            <a:srgbClr val="00206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a:solidFill>
                  <a:schemeClr val="lt1"/>
                </a:solidFill>
                <a:latin typeface="Arial" panose="020B0604020202020204"/>
                <a:ea typeface="Arial" panose="020B0604020202020204"/>
                <a:cs typeface="Arial" panose="020B0604020202020204"/>
                <a:sym typeface="Arial" panose="020B0604020202020204"/>
              </a:rPr>
              <a:t>Department of Computer Science and Engineering</a:t>
            </a:r>
          </a:p>
        </p:txBody>
      </p:sp>
      <p:sp>
        <p:nvSpPr>
          <p:cNvPr id="26" name="Google Shape;26;p11"/>
          <p:cNvSpPr txBox="1"/>
          <p:nvPr userDrawn="1"/>
        </p:nvSpPr>
        <p:spPr>
          <a:xfrm>
            <a:off x="292962" y="6409756"/>
            <a:ext cx="867243" cy="276959"/>
          </a:xfrm>
          <a:prstGeom prst="rect">
            <a:avLst/>
          </a:prstGeom>
          <a:solidFill>
            <a:srgbClr val="00206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dirty="0">
                <a:solidFill>
                  <a:schemeClr val="lt1"/>
                </a:solidFill>
                <a:latin typeface="Arial" panose="020B0604020202020204"/>
                <a:ea typeface="Arial" panose="020B0604020202020204"/>
                <a:cs typeface="Arial" panose="020B0604020202020204"/>
                <a:sym typeface="Arial" panose="020B0604020202020204"/>
              </a:rPr>
              <a:t>2025 - 26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7"/>
        <p:cNvGrpSpPr/>
        <p:nvPr/>
      </p:nvGrpSpPr>
      <p:grpSpPr>
        <a:xfrm>
          <a:off x="0" y="0"/>
          <a:ext cx="0" cy="0"/>
          <a:chOff x="0" y="0"/>
          <a:chExt cx="0" cy="0"/>
        </a:xfrm>
      </p:grpSpPr>
      <p:cxnSp>
        <p:nvCxnSpPr>
          <p:cNvPr id="28" name="Google Shape;28;p12"/>
          <p:cNvCxnSpPr/>
          <p:nvPr/>
        </p:nvCxnSpPr>
        <p:spPr>
          <a:xfrm>
            <a:off x="0" y="6535939"/>
            <a:ext cx="12192000" cy="0"/>
          </a:xfrm>
          <a:prstGeom prst="straightConnector1">
            <a:avLst/>
          </a:prstGeom>
          <a:noFill/>
          <a:ln w="19050" cap="flat" cmpd="sng">
            <a:solidFill>
              <a:schemeClr val="accent1"/>
            </a:solidFill>
            <a:prstDash val="solid"/>
            <a:miter lim="800000"/>
            <a:headEnd type="none" w="sm" len="sm"/>
            <a:tailEnd type="none" w="sm" len="sm"/>
          </a:ln>
        </p:spPr>
      </p:cxnSp>
      <p:sp>
        <p:nvSpPr>
          <p:cNvPr id="29" name="Google Shape;29;p12"/>
          <p:cNvSpPr txBox="1">
            <a:spLocks noGrp="1"/>
          </p:cNvSpPr>
          <p:nvPr>
            <p:ph type="title"/>
          </p:nvPr>
        </p:nvSpPr>
        <p:spPr>
          <a:xfrm>
            <a:off x="-1" y="2704220"/>
            <a:ext cx="12191999" cy="72550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3600"/>
              <a:buFont typeface="Arial" panose="020B0604020202020204"/>
              <a:buNone/>
              <a:defRPr sz="3600">
                <a:solidFill>
                  <a:srgbClr val="002060"/>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2"/>
          <p:cNvSpPr txBox="1">
            <a:spLocks noGrp="1"/>
          </p:cNvSpPr>
          <p:nvPr>
            <p:ph type="sldNum" idx="12"/>
          </p:nvPr>
        </p:nvSpPr>
        <p:spPr>
          <a:xfrm>
            <a:off x="11132597" y="6356350"/>
            <a:ext cx="736847" cy="276999"/>
          </a:xfrm>
          <a:prstGeom prst="rect">
            <a:avLst/>
          </a:prstGeom>
          <a:solidFill>
            <a:srgbClr val="002060"/>
          </a:solidFill>
          <a:ln>
            <a:noFill/>
          </a:ln>
        </p:spPr>
        <p:txBody>
          <a:bodyPr spcFirstLastPara="1" wrap="square" lIns="91425" tIns="45700" rIns="91425" bIns="45700" anchor="ctr" anchorCtr="0">
            <a:noAutofit/>
          </a:bodyPr>
          <a:lstStyle>
            <a:lvl1pPr marL="0" lvl="0"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1pPr>
            <a:lvl2pPr marL="0" lvl="1"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2pPr>
            <a:lvl3pPr marL="0" lvl="2"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3pPr>
            <a:lvl4pPr marL="0" lvl="3"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4pPr>
            <a:lvl5pPr marL="0" lvl="4"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5pPr>
            <a:lvl6pPr marL="0" lvl="5"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6pPr>
            <a:lvl7pPr marL="0" lvl="6"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7pPr>
            <a:lvl8pPr marL="0" lvl="7"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8pPr>
            <a:lvl9pPr marL="0" lvl="8" indent="0" algn="ctr">
              <a:spcBef>
                <a:spcPts val="0"/>
              </a:spcBef>
              <a:buNone/>
              <a:defRPr sz="1200" b="1">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fld id="{00000000-1234-1234-1234-123412341234}" type="slidenum">
              <a:rPr lang="en-IN"/>
              <a:t>‹#›</a:t>
            </a:fld>
            <a:endParaRPr lang="en-IN"/>
          </a:p>
        </p:txBody>
      </p:sp>
      <p:pic>
        <p:nvPicPr>
          <p:cNvPr id="31" name="Google Shape;31;p12" descr="Anurag Engineering College"/>
          <p:cNvPicPr preferRelativeResize="0"/>
          <p:nvPr/>
        </p:nvPicPr>
        <p:blipFill rotWithShape="1">
          <a:blip r:embed="rId2"/>
          <a:srcRect/>
          <a:stretch>
            <a:fillRect/>
          </a:stretch>
        </p:blipFill>
        <p:spPr>
          <a:xfrm>
            <a:off x="10742824" y="322061"/>
            <a:ext cx="1221952" cy="360625"/>
          </a:xfrm>
          <a:prstGeom prst="rect">
            <a:avLst/>
          </a:prstGeom>
          <a:noFill/>
          <a:ln>
            <a:noFill/>
          </a:ln>
        </p:spPr>
      </p:pic>
      <p:sp>
        <p:nvSpPr>
          <p:cNvPr id="32" name="Google Shape;32;p12"/>
          <p:cNvSpPr txBox="1"/>
          <p:nvPr/>
        </p:nvSpPr>
        <p:spPr>
          <a:xfrm>
            <a:off x="4274806" y="6397439"/>
            <a:ext cx="3700351" cy="276999"/>
          </a:xfrm>
          <a:prstGeom prst="rect">
            <a:avLst/>
          </a:prstGeom>
          <a:solidFill>
            <a:srgbClr val="00206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a:solidFill>
                  <a:schemeClr val="lt1"/>
                </a:solidFill>
                <a:latin typeface="Arial" panose="020B0604020202020204"/>
                <a:ea typeface="Arial" panose="020B0604020202020204"/>
                <a:cs typeface="Arial" panose="020B0604020202020204"/>
                <a:sym typeface="Arial" panose="020B0604020202020204"/>
              </a:rPr>
              <a:t>Department of Computer Science and Engineering</a:t>
            </a:r>
          </a:p>
        </p:txBody>
      </p:sp>
      <p:sp>
        <p:nvSpPr>
          <p:cNvPr id="33" name="Google Shape;33;p12"/>
          <p:cNvSpPr txBox="1"/>
          <p:nvPr/>
        </p:nvSpPr>
        <p:spPr>
          <a:xfrm>
            <a:off x="292963" y="6409756"/>
            <a:ext cx="798990" cy="276999"/>
          </a:xfrm>
          <a:prstGeom prst="rect">
            <a:avLst/>
          </a:prstGeom>
          <a:solidFill>
            <a:srgbClr val="00206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a:solidFill>
                  <a:schemeClr val="lt1"/>
                </a:solidFill>
                <a:latin typeface="Arial" panose="020B0604020202020204"/>
                <a:ea typeface="Arial" panose="020B0604020202020204"/>
                <a:cs typeface="Arial" panose="020B0604020202020204"/>
                <a:sym typeface="Arial" panose="020B0604020202020204"/>
              </a:rPr>
              <a:t>2024 - 25</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7" name="Google Shape;3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a:spLocks noGrp="1"/>
          </p:cNvSpPr>
          <p:nvPr>
            <p:ph type="pic" idx="2"/>
          </p:nvPr>
        </p:nvSpPr>
        <p:spPr>
          <a:xfrm>
            <a:off x="5183188" y="987425"/>
            <a:ext cx="6172200" cy="4873625"/>
          </a:xfrm>
          <a:prstGeom prst="rect">
            <a:avLst/>
          </a:prstGeom>
          <a:noFill/>
          <a:ln>
            <a:noFill/>
          </a:ln>
        </p:spPr>
      </p:sp>
      <p:sp>
        <p:nvSpPr>
          <p:cNvPr id="75" name="Google Shape;75;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3" name="Picture 1" descr="Anurag Engineering Colleg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96400" y="136525"/>
            <a:ext cx="27432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55107" y="2343704"/>
            <a:ext cx="11478827" cy="912257"/>
          </a:xfrm>
        </p:spPr>
        <p:txBody>
          <a:bodyPr>
            <a:normAutofit/>
          </a:bodyPr>
          <a:lstStyle>
            <a:lvl1pPr algn="ctr">
              <a:defRPr sz="4800">
                <a:solidFill>
                  <a:srgbClr val="002060"/>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4" name="Slide Number Placeholder 5"/>
          <p:cNvSpPr>
            <a:spLocks noGrp="1"/>
          </p:cNvSpPr>
          <p:nvPr>
            <p:ph type="sldNum" sz="quarter" idx="10"/>
          </p:nvPr>
        </p:nvSpPr>
        <p:spPr>
          <a:xfrm>
            <a:off x="10993438" y="6356350"/>
            <a:ext cx="1046162" cy="365125"/>
          </a:xfrm>
        </p:spPr>
        <p:txBody>
          <a:bodyPr/>
          <a:lstStyle>
            <a:lvl1pPr algn="ctr">
              <a:defRPr/>
            </a:lvl1pPr>
          </a:lstStyle>
          <a:p>
            <a:fld id="{0BBC3D1C-7366-4C65-8A9E-DB397300CBCB}" type="slidenum">
              <a:rPr lang="en-IN" altLang="en-US"/>
              <a:pPr/>
              <a:t>‹#›</a:t>
            </a:fld>
            <a:endParaRPr lang="en-IN" altLang="en-US"/>
          </a:p>
        </p:txBody>
      </p:sp>
    </p:spTree>
    <p:extLst>
      <p:ext uri="{BB962C8B-B14F-4D97-AF65-F5344CB8AC3E}">
        <p14:creationId xmlns:p14="http://schemas.microsoft.com/office/powerpoint/2010/main" val="736142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panose="00000500000000000000"/>
              <a:buNone/>
              <a:defRPr sz="4400" b="0" i="0" u="none" strike="noStrike" cap="none">
                <a:solidFill>
                  <a:schemeClr val="dk1"/>
                </a:solidFill>
                <a:latin typeface="Play" panose="00000500000000000000"/>
                <a:ea typeface="Play" panose="00000500000000000000"/>
                <a:cs typeface="Play" panose="00000500000000000000"/>
                <a:sym typeface="Play"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docs.opencv.org/"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www.tensorflow.or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357188" y="2784475"/>
            <a:ext cx="11477625" cy="633413"/>
          </a:xfrm>
        </p:spPr>
        <p:txBody>
          <a:bodyPr>
            <a:normAutofit fontScale="90000"/>
          </a:bodyPr>
          <a:lstStyle/>
          <a:p>
            <a:pPr eaLnBrk="1" hangingPunct="1">
              <a:defRPr/>
            </a:pPr>
            <a:r>
              <a:rPr lang="en-US" altLang="en-US" sz="3600" b="1" dirty="0" err="1"/>
              <a:t>FaceSense</a:t>
            </a:r>
            <a:r>
              <a:rPr lang="en-US" altLang="en-US" sz="3600" b="1" dirty="0"/>
              <a:t> AI-An AI Driven Real-Time Video Interview System With Sentiment Analysis </a:t>
            </a:r>
            <a:endParaRPr lang="en-IN" altLang="en-US" sz="3600" b="1" dirty="0"/>
          </a:p>
        </p:txBody>
      </p:sp>
      <p:sp>
        <p:nvSpPr>
          <p:cNvPr id="6147" name="TextBox 3"/>
          <p:cNvSpPr txBox="1">
            <a:spLocks noChangeArrowheads="1"/>
          </p:cNvSpPr>
          <p:nvPr/>
        </p:nvSpPr>
        <p:spPr bwMode="auto">
          <a:xfrm>
            <a:off x="1085850" y="3941763"/>
            <a:ext cx="2717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algn="ctr" eaLnBrk="1" hangingPunct="1"/>
            <a:r>
              <a:rPr lang="en-IN" altLang="en-US" sz="1800" b="1">
                <a:latin typeface="Arial" pitchFamily="34" charset="0"/>
              </a:rPr>
              <a:t>Under the Guidance</a:t>
            </a:r>
          </a:p>
        </p:txBody>
      </p:sp>
      <p:sp>
        <p:nvSpPr>
          <p:cNvPr id="6148" name="TextBox 4"/>
          <p:cNvSpPr txBox="1">
            <a:spLocks noChangeArrowheads="1"/>
          </p:cNvSpPr>
          <p:nvPr/>
        </p:nvSpPr>
        <p:spPr bwMode="auto">
          <a:xfrm>
            <a:off x="1358900" y="4494213"/>
            <a:ext cx="2365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eaLnBrk="1" hangingPunct="1"/>
            <a:r>
              <a:rPr lang="en-IN" altLang="en-US" sz="1800" dirty="0" err="1">
                <a:latin typeface="Arial" pitchFamily="34" charset="0"/>
              </a:rPr>
              <a:t>Mrs.</a:t>
            </a:r>
            <a:r>
              <a:rPr lang="en-IN" altLang="en-US" sz="1800" dirty="0">
                <a:latin typeface="Arial" pitchFamily="34" charset="0"/>
              </a:rPr>
              <a:t> D.GANGA RANI</a:t>
            </a:r>
          </a:p>
        </p:txBody>
      </p:sp>
      <p:sp>
        <p:nvSpPr>
          <p:cNvPr id="6149" name="TextBox 5"/>
          <p:cNvSpPr txBox="1">
            <a:spLocks noChangeArrowheads="1"/>
          </p:cNvSpPr>
          <p:nvPr/>
        </p:nvSpPr>
        <p:spPr bwMode="auto">
          <a:xfrm>
            <a:off x="7029450" y="3941763"/>
            <a:ext cx="4375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algn="ctr" eaLnBrk="1" hangingPunct="1"/>
            <a:r>
              <a:rPr lang="en-IN" altLang="en-US" sz="1800" b="1">
                <a:latin typeface="Arial" pitchFamily="34" charset="0"/>
              </a:rPr>
              <a:t>Presentation by</a:t>
            </a:r>
          </a:p>
        </p:txBody>
      </p:sp>
      <p:sp>
        <p:nvSpPr>
          <p:cNvPr id="6150" name="TextBox 6"/>
          <p:cNvSpPr txBox="1">
            <a:spLocks noChangeArrowheads="1"/>
          </p:cNvSpPr>
          <p:nvPr/>
        </p:nvSpPr>
        <p:spPr bwMode="auto">
          <a:xfrm>
            <a:off x="7029450" y="4471988"/>
            <a:ext cx="4375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eaLnBrk="1" hangingPunct="1"/>
            <a:r>
              <a:rPr lang="en-IN" altLang="en-US" sz="1800">
                <a:latin typeface="Arial" pitchFamily="34" charset="0"/>
              </a:rPr>
              <a:t>Mr. SHAIK SAMEER  (22C11A05C8)</a:t>
            </a:r>
          </a:p>
        </p:txBody>
      </p:sp>
      <p:sp>
        <p:nvSpPr>
          <p:cNvPr id="6151" name="TextBox 7"/>
          <p:cNvSpPr txBox="1">
            <a:spLocks noChangeArrowheads="1"/>
          </p:cNvSpPr>
          <p:nvPr/>
        </p:nvSpPr>
        <p:spPr bwMode="auto">
          <a:xfrm>
            <a:off x="7029450" y="4841875"/>
            <a:ext cx="4375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eaLnBrk="1" hangingPunct="1"/>
            <a:r>
              <a:rPr lang="en-IN" altLang="en-US" sz="1800">
                <a:latin typeface="Arial" pitchFamily="34" charset="0"/>
              </a:rPr>
              <a:t>Mr. EERLA NAGARAJU (22C11A0581)</a:t>
            </a:r>
          </a:p>
        </p:txBody>
      </p:sp>
      <p:sp>
        <p:nvSpPr>
          <p:cNvPr id="6152" name="TextBox 10"/>
          <p:cNvSpPr txBox="1">
            <a:spLocks noChangeArrowheads="1"/>
          </p:cNvSpPr>
          <p:nvPr/>
        </p:nvSpPr>
        <p:spPr bwMode="auto">
          <a:xfrm>
            <a:off x="1085850" y="4859338"/>
            <a:ext cx="2717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algn="ctr" eaLnBrk="1" hangingPunct="1"/>
            <a:r>
              <a:rPr lang="en-IN" altLang="en-US" sz="1800" dirty="0">
                <a:latin typeface="Arial" pitchFamily="34" charset="0"/>
              </a:rPr>
              <a:t>Assistant Professor,</a:t>
            </a:r>
          </a:p>
          <a:p>
            <a:pPr algn="ctr" eaLnBrk="1" hangingPunct="1"/>
            <a:r>
              <a:rPr lang="en-IN" altLang="en-US" sz="1800" dirty="0">
                <a:latin typeface="Arial" pitchFamily="34" charset="0"/>
              </a:rPr>
              <a:t>Department of CSE</a:t>
            </a:r>
          </a:p>
        </p:txBody>
      </p:sp>
      <p:sp>
        <p:nvSpPr>
          <p:cNvPr id="12" name="Rectangle 11"/>
          <p:cNvSpPr/>
          <p:nvPr/>
        </p:nvSpPr>
        <p:spPr>
          <a:xfrm>
            <a:off x="0" y="6348413"/>
            <a:ext cx="12192000" cy="3683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IN" b="1" dirty="0">
                <a:solidFill>
                  <a:schemeClr val="bg1"/>
                </a:solidFill>
                <a:latin typeface="Arial" panose="020B0604020202020204" pitchFamily="34" charset="0"/>
                <a:cs typeface="Arial" panose="020B0604020202020204" pitchFamily="34" charset="0"/>
              </a:rPr>
              <a:t>Department of Computer Science and Engineering</a:t>
            </a:r>
          </a:p>
        </p:txBody>
      </p:sp>
      <p:sp>
        <p:nvSpPr>
          <p:cNvPr id="6154" name="TextBox 12"/>
          <p:cNvSpPr txBox="1">
            <a:spLocks noChangeArrowheads="1"/>
          </p:cNvSpPr>
          <p:nvPr/>
        </p:nvSpPr>
        <p:spPr bwMode="auto">
          <a:xfrm>
            <a:off x="357188" y="1106488"/>
            <a:ext cx="1147762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algn="ctr" eaLnBrk="1" hangingPunct="1"/>
            <a:r>
              <a:rPr lang="en-IN" altLang="en-US" sz="4200" b="1" dirty="0">
                <a:solidFill>
                  <a:srgbClr val="002060"/>
                </a:solidFill>
                <a:latin typeface="Arial" pitchFamily="34" charset="0"/>
              </a:rPr>
              <a:t>PROJECT STAGE-I REVIEW</a:t>
            </a:r>
          </a:p>
        </p:txBody>
      </p:sp>
      <p:sp>
        <p:nvSpPr>
          <p:cNvPr id="6155" name="TextBox 13"/>
          <p:cNvSpPr txBox="1">
            <a:spLocks noChangeArrowheads="1"/>
          </p:cNvSpPr>
          <p:nvPr/>
        </p:nvSpPr>
        <p:spPr bwMode="auto">
          <a:xfrm>
            <a:off x="290513" y="1987550"/>
            <a:ext cx="11477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pPr algn="ctr" eaLnBrk="1" hangingPunct="1"/>
            <a:r>
              <a:rPr lang="en-IN" altLang="en-US" b="1" dirty="0">
                <a:solidFill>
                  <a:srgbClr val="002060"/>
                </a:solidFill>
                <a:latin typeface="Arial" pitchFamily="34" charset="0"/>
              </a:rPr>
              <a:t>24-11-2025</a:t>
            </a:r>
          </a:p>
        </p:txBody>
      </p:sp>
      <p:sp>
        <p:nvSpPr>
          <p:cNvPr id="6156" name="Slide Number Placeholder 14"/>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fld id="{5654C71D-F35E-4335-854D-B203FD9759B6}" type="slidenum">
              <a:rPr lang="en-IN" altLang="en-US" sz="1200">
                <a:solidFill>
                  <a:srgbClr val="767676"/>
                </a:solidFill>
              </a:rPr>
              <a:pPr/>
              <a:t>1</a:t>
            </a:fld>
            <a:endParaRPr lang="en-IN" altLang="en-US" sz="1200">
              <a:solidFill>
                <a:srgbClr val="767676"/>
              </a:solidFill>
            </a:endParaRPr>
          </a:p>
        </p:txBody>
      </p:sp>
    </p:spTree>
    <p:extLst>
      <p:ext uri="{BB962C8B-B14F-4D97-AF65-F5344CB8AC3E}">
        <p14:creationId xmlns:p14="http://schemas.microsoft.com/office/powerpoint/2010/main" val="144679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a:spLocks noGrp="1"/>
          </p:cNvSpPr>
          <p:nvPr>
            <p:ph type="title"/>
          </p:nvPr>
        </p:nvSpPr>
        <p:spPr>
          <a:xfrm>
            <a:off x="292963" y="322061"/>
            <a:ext cx="10333608" cy="72550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Arial" panose="020B0604020202020204"/>
              <a:buNone/>
            </a:pPr>
            <a:r>
              <a:rPr lang="en-IN" b="1"/>
              <a:t>Contents</a:t>
            </a:r>
          </a:p>
        </p:txBody>
      </p:sp>
      <p:sp>
        <p:nvSpPr>
          <p:cNvPr id="114" name="Google Shape;114;p2"/>
          <p:cNvSpPr txBox="1">
            <a:spLocks noGrp="1"/>
          </p:cNvSpPr>
          <p:nvPr>
            <p:ph type="body" idx="1"/>
          </p:nvPr>
        </p:nvSpPr>
        <p:spPr>
          <a:xfrm>
            <a:off x="292963" y="1305017"/>
            <a:ext cx="11576482" cy="487194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ct val="100000"/>
              <a:buChar char="•"/>
            </a:pPr>
            <a:r>
              <a:rPr lang="en-IN" sz="2400" dirty="0">
                <a:latin typeface="Arial" panose="020B0604020202020204"/>
                <a:ea typeface="Arial" panose="020B0604020202020204"/>
                <a:cs typeface="Arial" panose="020B0604020202020204"/>
                <a:sym typeface="Arial" panose="020B0604020202020204"/>
              </a:rPr>
              <a:t>Introduction</a:t>
            </a:r>
          </a:p>
          <a:p>
            <a:pPr marL="228600" lvl="0" indent="-228600" algn="l" rtl="0">
              <a:lnSpc>
                <a:spcPct val="90000"/>
              </a:lnSpc>
              <a:spcBef>
                <a:spcPts val="1000"/>
              </a:spcBef>
              <a:spcAft>
                <a:spcPts val="0"/>
              </a:spcAft>
              <a:buClr>
                <a:srgbClr val="002060"/>
              </a:buClr>
              <a:buSzPct val="100000"/>
              <a:buChar char="•"/>
            </a:pPr>
            <a:r>
              <a:rPr lang="en-IN" dirty="0">
                <a:latin typeface="Arial" panose="020B0604020202020204"/>
                <a:ea typeface="Arial" panose="020B0604020202020204"/>
                <a:cs typeface="Arial" panose="020B0604020202020204"/>
                <a:sym typeface="Arial" panose="020B0604020202020204"/>
              </a:rPr>
              <a:t>Abstract</a:t>
            </a:r>
          </a:p>
          <a:p>
            <a:pPr marL="228600" lvl="0" indent="-228600" algn="l" rtl="0">
              <a:lnSpc>
                <a:spcPct val="90000"/>
              </a:lnSpc>
              <a:spcBef>
                <a:spcPts val="1000"/>
              </a:spcBef>
              <a:spcAft>
                <a:spcPts val="0"/>
              </a:spcAft>
              <a:buClr>
                <a:srgbClr val="002060"/>
              </a:buClr>
              <a:buSzPct val="100000"/>
              <a:buChar char="•"/>
            </a:pPr>
            <a:r>
              <a:rPr lang="en-IN" dirty="0">
                <a:latin typeface="Arial" panose="020B0604020202020204"/>
                <a:ea typeface="Arial" panose="020B0604020202020204"/>
                <a:cs typeface="Arial" panose="020B0604020202020204"/>
                <a:sym typeface="Arial" panose="020B0604020202020204"/>
              </a:rPr>
              <a:t>Base Paper</a:t>
            </a:r>
          </a:p>
          <a:p>
            <a:pPr marL="228600" lvl="0" indent="-228600" algn="l" rtl="0">
              <a:lnSpc>
                <a:spcPct val="90000"/>
              </a:lnSpc>
              <a:spcBef>
                <a:spcPts val="1000"/>
              </a:spcBef>
              <a:spcAft>
                <a:spcPts val="0"/>
              </a:spcAft>
              <a:buClr>
                <a:srgbClr val="002060"/>
              </a:buClr>
              <a:buSzPct val="100000"/>
              <a:buChar char="•"/>
            </a:pPr>
            <a:r>
              <a:rPr lang="en-IN" dirty="0">
                <a:latin typeface="Arial" panose="020B0604020202020204"/>
                <a:ea typeface="Arial" panose="020B0604020202020204"/>
                <a:cs typeface="Arial" panose="020B0604020202020204"/>
                <a:sym typeface="Arial" panose="020B0604020202020204"/>
              </a:rPr>
              <a:t>Literature Review</a:t>
            </a:r>
          </a:p>
          <a:p>
            <a:pPr marL="228600" lvl="0" indent="-228600" algn="l" rtl="0">
              <a:lnSpc>
                <a:spcPct val="90000"/>
              </a:lnSpc>
              <a:spcBef>
                <a:spcPts val="1000"/>
              </a:spcBef>
              <a:spcAft>
                <a:spcPts val="0"/>
              </a:spcAft>
              <a:buClr>
                <a:srgbClr val="002060"/>
              </a:buClr>
              <a:buSzPct val="100000"/>
              <a:buChar char="•"/>
            </a:pPr>
            <a:r>
              <a:rPr lang="en-IN" dirty="0">
                <a:latin typeface="Arial" panose="020B0604020202020204"/>
                <a:ea typeface="Arial" panose="020B0604020202020204"/>
                <a:cs typeface="Arial" panose="020B0604020202020204"/>
                <a:sym typeface="Arial" panose="020B0604020202020204"/>
              </a:rPr>
              <a:t>Existing Project</a:t>
            </a:r>
          </a:p>
          <a:p>
            <a:pPr marL="228600" lvl="0" indent="-228600" algn="l" rtl="0">
              <a:lnSpc>
                <a:spcPct val="90000"/>
              </a:lnSpc>
              <a:spcBef>
                <a:spcPts val="1000"/>
              </a:spcBef>
              <a:spcAft>
                <a:spcPts val="0"/>
              </a:spcAft>
              <a:buClr>
                <a:srgbClr val="002060"/>
              </a:buClr>
              <a:buSzPct val="100000"/>
              <a:buChar char="•"/>
            </a:pPr>
            <a:r>
              <a:rPr lang="en-IN" dirty="0">
                <a:latin typeface="Arial" panose="020B0604020202020204"/>
                <a:ea typeface="Arial" panose="020B0604020202020204"/>
                <a:cs typeface="Arial" panose="020B0604020202020204"/>
                <a:sym typeface="Arial" panose="020B0604020202020204"/>
              </a:rPr>
              <a:t>Drawbacks</a:t>
            </a:r>
          </a:p>
          <a:p>
            <a:pPr marL="228600" lvl="0" indent="-228600" algn="l" rtl="0">
              <a:lnSpc>
                <a:spcPct val="90000"/>
              </a:lnSpc>
              <a:spcBef>
                <a:spcPts val="1000"/>
              </a:spcBef>
              <a:spcAft>
                <a:spcPts val="0"/>
              </a:spcAft>
              <a:buClr>
                <a:srgbClr val="002060"/>
              </a:buClr>
              <a:buSzPct val="100000"/>
              <a:buChar char="•"/>
            </a:pPr>
            <a:r>
              <a:rPr lang="en-IN" dirty="0">
                <a:latin typeface="Arial" panose="020B0604020202020204"/>
                <a:ea typeface="Arial" panose="020B0604020202020204"/>
                <a:cs typeface="Arial" panose="020B0604020202020204"/>
                <a:sym typeface="Arial" panose="020B0604020202020204"/>
              </a:rPr>
              <a:t>Problem Statement</a:t>
            </a:r>
          </a:p>
          <a:p>
            <a:pPr marL="228600" lvl="0" indent="-228600" algn="l" rtl="0">
              <a:lnSpc>
                <a:spcPct val="90000"/>
              </a:lnSpc>
              <a:spcBef>
                <a:spcPts val="1000"/>
              </a:spcBef>
              <a:spcAft>
                <a:spcPts val="0"/>
              </a:spcAft>
              <a:buClr>
                <a:srgbClr val="002060"/>
              </a:buClr>
              <a:buSzPct val="100000"/>
              <a:buChar char="•"/>
            </a:pPr>
            <a:r>
              <a:rPr lang="en-IN" dirty="0">
                <a:latin typeface="Arial" panose="020B0604020202020204"/>
                <a:ea typeface="Arial" panose="020B0604020202020204"/>
                <a:cs typeface="Arial" panose="020B0604020202020204"/>
                <a:sym typeface="Arial" panose="020B0604020202020204"/>
              </a:rPr>
              <a:t>Proposed System</a:t>
            </a:r>
          </a:p>
          <a:p>
            <a:pPr marL="228600" lvl="0" indent="-228600" algn="l" rtl="0">
              <a:lnSpc>
                <a:spcPct val="90000"/>
              </a:lnSpc>
              <a:spcBef>
                <a:spcPts val="1000"/>
              </a:spcBef>
              <a:spcAft>
                <a:spcPts val="0"/>
              </a:spcAft>
              <a:buClr>
                <a:srgbClr val="002060"/>
              </a:buClr>
              <a:buSzPct val="100000"/>
              <a:buChar char="•"/>
            </a:pPr>
            <a:r>
              <a:rPr lang="en-IN" sz="2400" dirty="0">
                <a:latin typeface="Arial" panose="020B0604020202020204"/>
                <a:ea typeface="Arial" panose="020B0604020202020204"/>
                <a:cs typeface="Arial" panose="020B0604020202020204"/>
                <a:sym typeface="Arial" panose="020B0604020202020204"/>
              </a:rPr>
              <a:t>Objectives</a:t>
            </a:r>
          </a:p>
          <a:p>
            <a:pPr marL="228600" lvl="0" indent="-228600" algn="l" rtl="0">
              <a:lnSpc>
                <a:spcPct val="90000"/>
              </a:lnSpc>
              <a:spcBef>
                <a:spcPts val="1000"/>
              </a:spcBef>
              <a:spcAft>
                <a:spcPts val="0"/>
              </a:spcAft>
              <a:buClr>
                <a:srgbClr val="002060"/>
              </a:buClr>
              <a:buSzPct val="100000"/>
              <a:buChar char="•"/>
            </a:pPr>
            <a:r>
              <a:rPr lang="en-IN" sz="2400" dirty="0">
                <a:latin typeface="Arial" panose="020B0604020202020204"/>
                <a:ea typeface="Arial" panose="020B0604020202020204"/>
                <a:cs typeface="Arial" panose="020B0604020202020204"/>
                <a:sym typeface="Arial" panose="020B0604020202020204"/>
              </a:rPr>
              <a:t>Architecture</a:t>
            </a:r>
          </a:p>
          <a:p>
            <a:pPr marL="228600" lvl="0" indent="-228600" algn="l" rtl="0">
              <a:lnSpc>
                <a:spcPct val="90000"/>
              </a:lnSpc>
              <a:spcBef>
                <a:spcPts val="1000"/>
              </a:spcBef>
              <a:spcAft>
                <a:spcPts val="0"/>
              </a:spcAft>
              <a:buClr>
                <a:srgbClr val="002060"/>
              </a:buClr>
              <a:buSzPct val="100000"/>
              <a:buChar char="•"/>
            </a:pPr>
            <a:r>
              <a:rPr lang="en-IN" sz="2400" dirty="0">
                <a:latin typeface="Arial" panose="020B0604020202020204"/>
                <a:ea typeface="Arial" panose="020B0604020202020204"/>
                <a:cs typeface="Arial" panose="020B0604020202020204"/>
                <a:sym typeface="Arial" panose="020B0604020202020204"/>
              </a:rPr>
              <a:t>Software and Hardware Requirements</a:t>
            </a:r>
          </a:p>
          <a:p>
            <a:pPr marL="228600" lvl="0" indent="-228600" algn="l" rtl="0">
              <a:lnSpc>
                <a:spcPct val="90000"/>
              </a:lnSpc>
              <a:spcBef>
                <a:spcPts val="1000"/>
              </a:spcBef>
              <a:spcAft>
                <a:spcPts val="0"/>
              </a:spcAft>
              <a:buClr>
                <a:srgbClr val="002060"/>
              </a:buClr>
              <a:buSzPct val="100000"/>
              <a:buChar char="•"/>
            </a:pPr>
            <a:endParaRPr lang="en-IN" sz="2400" dirty="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rgbClr val="002060"/>
              </a:buClr>
              <a:buSzPct val="100000"/>
              <a:buNone/>
            </a:pPr>
            <a:endParaRPr lang="en-IN" sz="2400" dirty="0">
              <a:latin typeface="Arial" panose="020B0604020202020204"/>
              <a:ea typeface="Arial" panose="020B0604020202020204"/>
              <a:cs typeface="Arial" panose="020B0604020202020204"/>
              <a:sym typeface="Arial" panose="020B0604020202020204"/>
            </a:endParaRPr>
          </a:p>
        </p:txBody>
      </p:sp>
      <p:sp>
        <p:nvSpPr>
          <p:cNvPr id="115" name="Google Shape;115;p2"/>
          <p:cNvSpPr txBox="1">
            <a:spLocks noGrp="1"/>
          </p:cNvSpPr>
          <p:nvPr>
            <p:ph type="sldNum" idx="12"/>
          </p:nvPr>
        </p:nvSpPr>
        <p:spPr>
          <a:xfrm>
            <a:off x="11132597" y="6356350"/>
            <a:ext cx="736847" cy="276999"/>
          </a:xfrm>
          <a:prstGeom prst="rect">
            <a:avLst/>
          </a:prstGeom>
          <a:solidFill>
            <a:srgbClr val="002060"/>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N"/>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292963" y="322061"/>
            <a:ext cx="10333608" cy="72550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Arial" panose="020B0604020202020204"/>
              <a:buNone/>
            </a:pPr>
            <a:endParaRPr dirty="0"/>
          </a:p>
        </p:txBody>
      </p:sp>
      <p:sp>
        <p:nvSpPr>
          <p:cNvPr id="121" name="Google Shape;121;p3"/>
          <p:cNvSpPr txBox="1">
            <a:spLocks noGrp="1"/>
          </p:cNvSpPr>
          <p:nvPr>
            <p:ph type="body" idx="1"/>
          </p:nvPr>
        </p:nvSpPr>
        <p:spPr>
          <a:xfrm>
            <a:off x="292963" y="1305017"/>
            <a:ext cx="11576482" cy="48719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rgbClr val="002060"/>
              </a:buClr>
              <a:buSzPct val="100000"/>
              <a:buChar char="•"/>
            </a:pPr>
            <a:r>
              <a:rPr lang="en-IN" dirty="0">
                <a:sym typeface="Arial" panose="020B0604020202020204"/>
              </a:rPr>
              <a:t>Modules</a:t>
            </a:r>
            <a:endParaRPr lang="en-US" altLang="en-IN" dirty="0">
              <a:sym typeface="Arial" panose="020B0604020202020204"/>
            </a:endParaRPr>
          </a:p>
          <a:p>
            <a:pPr marL="228600" lvl="0" indent="-228600" algn="l" rtl="0">
              <a:lnSpc>
                <a:spcPct val="90000"/>
              </a:lnSpc>
              <a:spcBef>
                <a:spcPts val="1000"/>
              </a:spcBef>
              <a:spcAft>
                <a:spcPts val="0"/>
              </a:spcAft>
              <a:buClr>
                <a:srgbClr val="002060"/>
              </a:buClr>
              <a:buSzPct val="100000"/>
              <a:buChar char="•"/>
            </a:pPr>
            <a:r>
              <a:rPr lang="en-US" altLang="en-IN" dirty="0">
                <a:sym typeface="Arial" panose="020B0604020202020204"/>
              </a:rPr>
              <a:t>Design Diagrams</a:t>
            </a:r>
            <a:endParaRPr lang="en-IN" dirty="0">
              <a:latin typeface="Arial" panose="020B0604020202020204"/>
              <a:ea typeface="Arial" panose="020B0604020202020204"/>
              <a:cs typeface="Arial" panose="020B0604020202020204"/>
              <a:sym typeface="Arial" panose="020B0604020202020204"/>
            </a:endParaRPr>
          </a:p>
          <a:p>
            <a:pPr marL="228600" lvl="0" indent="-228600" algn="l" rtl="0">
              <a:lnSpc>
                <a:spcPct val="90000"/>
              </a:lnSpc>
              <a:spcBef>
                <a:spcPts val="1000"/>
              </a:spcBef>
              <a:spcAft>
                <a:spcPts val="0"/>
              </a:spcAft>
              <a:buClr>
                <a:srgbClr val="002060"/>
              </a:buClr>
              <a:buSzPct val="100000"/>
              <a:buChar char="•"/>
            </a:pPr>
            <a:r>
              <a:rPr lang="en-IN" dirty="0">
                <a:sym typeface="Arial" panose="020B0604020202020204"/>
              </a:rPr>
              <a:t>References</a:t>
            </a:r>
            <a:endParaRPr dirty="0">
              <a:latin typeface="Arial" panose="020B0604020202020204"/>
              <a:ea typeface="Arial" panose="020B0604020202020204"/>
              <a:cs typeface="Arial" panose="020B0604020202020204"/>
              <a:sym typeface="Arial" panose="020B0604020202020204"/>
            </a:endParaRPr>
          </a:p>
          <a:p>
            <a:pPr marL="228600" lvl="0" indent="-76200" algn="l" rtl="0">
              <a:lnSpc>
                <a:spcPct val="90000"/>
              </a:lnSpc>
              <a:spcBef>
                <a:spcPts val="0"/>
              </a:spcBef>
              <a:spcAft>
                <a:spcPts val="0"/>
              </a:spcAft>
              <a:buClr>
                <a:srgbClr val="002060"/>
              </a:buClr>
              <a:buSzPts val="2400"/>
              <a:buNone/>
            </a:pPr>
            <a:endParaRPr dirty="0">
              <a:latin typeface="Arial" panose="020B0604020202020204"/>
              <a:ea typeface="Arial" panose="020B0604020202020204"/>
              <a:cs typeface="Arial" panose="020B0604020202020204"/>
              <a:sym typeface="Arial" panose="020B0604020202020204"/>
            </a:endParaRPr>
          </a:p>
        </p:txBody>
      </p:sp>
      <p:sp>
        <p:nvSpPr>
          <p:cNvPr id="122" name="Google Shape;122;p3"/>
          <p:cNvSpPr txBox="1">
            <a:spLocks noGrp="1"/>
          </p:cNvSpPr>
          <p:nvPr>
            <p:ph type="sldNum" idx="12"/>
          </p:nvPr>
        </p:nvSpPr>
        <p:spPr>
          <a:xfrm>
            <a:off x="11132597" y="6356350"/>
            <a:ext cx="736847" cy="276999"/>
          </a:xfrm>
          <a:prstGeom prst="rect">
            <a:avLst/>
          </a:prstGeom>
          <a:solidFill>
            <a:srgbClr val="002060"/>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N"/>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D58FB62-2A89-BC72-EDA7-84DB8DC5B2BF}"/>
              </a:ext>
            </a:extLst>
          </p:cNvPr>
          <p:cNvSpPr>
            <a:spLocks noGrp="1"/>
          </p:cNvSpPr>
          <p:nvPr>
            <p:ph type="title"/>
          </p:nvPr>
        </p:nvSpPr>
        <p:spPr>
          <a:xfrm>
            <a:off x="293688" y="322263"/>
            <a:ext cx="10333037" cy="725487"/>
          </a:xfrm>
        </p:spPr>
        <p:txBody>
          <a:bodyPr/>
          <a:lstStyle/>
          <a:p>
            <a:pPr eaLnBrk="1" hangingPunct="1"/>
            <a:r>
              <a:rPr lang="en-IN" altLang="en-US" b="1" dirty="0"/>
              <a:t>Introduction</a:t>
            </a:r>
            <a:endParaRPr lang="en-IN" altLang="en-US" dirty="0"/>
          </a:p>
        </p:txBody>
      </p:sp>
      <p:sp>
        <p:nvSpPr>
          <p:cNvPr id="9219" name="Content Placeholder 2">
            <a:extLst>
              <a:ext uri="{FF2B5EF4-FFF2-40B4-BE49-F238E27FC236}">
                <a16:creationId xmlns:a16="http://schemas.microsoft.com/office/drawing/2014/main" id="{02C29225-53B8-FFBF-F1EE-1A60D20EF50B}"/>
              </a:ext>
            </a:extLst>
          </p:cNvPr>
          <p:cNvSpPr>
            <a:spLocks noGrp="1"/>
          </p:cNvSpPr>
          <p:nvPr>
            <p:ph idx="1"/>
          </p:nvPr>
        </p:nvSpPr>
        <p:spPr>
          <a:xfrm>
            <a:off x="293688" y="1304925"/>
            <a:ext cx="11576050" cy="4872038"/>
          </a:xfrm>
        </p:spPr>
        <p:txBody>
          <a:bodyPr/>
          <a:lstStyle/>
          <a:p>
            <a:pPr marL="76200" indent="0" algn="just" eaLnBrk="1" hangingPunct="1">
              <a:buNone/>
            </a:pPr>
            <a:r>
              <a:rPr lang="en-US" altLang="en-US" dirty="0"/>
              <a:t>	Video interviews have become an integral part of modern recruitment processes as organizations increasingly adopt digital hiring solutions. Traditional interviews lack automation in evaluating the candidate's emotional state, facial expressions, and behavioral cues. Leveraging Artificial Intelligence, this project aims to build a real-time video interview system integrated with sentiment analysis to assist recruiters in making data-driven hiring decisions.</a:t>
            </a:r>
            <a:endParaRPr lang="en-IN" altLang="en-US" dirty="0"/>
          </a:p>
        </p:txBody>
      </p:sp>
      <p:sp>
        <p:nvSpPr>
          <p:cNvPr id="9220" name="Slide Number Placeholder 3">
            <a:extLst>
              <a:ext uri="{FF2B5EF4-FFF2-40B4-BE49-F238E27FC236}">
                <a16:creationId xmlns:a16="http://schemas.microsoft.com/office/drawing/2014/main" id="{1F9A3C49-5837-AC2C-8256-8733CDF74EE6}"/>
              </a:ext>
            </a:extLst>
          </p:cNvPr>
          <p:cNvSpPr>
            <a:spLocks noGrp="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4</a:t>
            </a:fld>
            <a:endParaRPr lang="en-IN" altLang="en-US" sz="1200">
              <a:solidFill>
                <a:schemeClr val="bg1"/>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05A5F620-3410-DDB0-9256-A63B961C95CB}"/>
              </a:ext>
            </a:extLst>
          </p:cNvPr>
          <p:cNvSpPr>
            <a:spLocks noGrp="1"/>
          </p:cNvSpPr>
          <p:nvPr>
            <p:ph type="title"/>
          </p:nvPr>
        </p:nvSpPr>
        <p:spPr>
          <a:xfrm>
            <a:off x="293688" y="322263"/>
            <a:ext cx="10333037" cy="725487"/>
          </a:xfrm>
        </p:spPr>
        <p:txBody>
          <a:bodyPr/>
          <a:lstStyle/>
          <a:p>
            <a:pPr eaLnBrk="1" hangingPunct="1"/>
            <a:r>
              <a:rPr lang="en-IN" altLang="en-US" b="1" dirty="0"/>
              <a:t>Abstract</a:t>
            </a:r>
            <a:endParaRPr lang="en-IN" altLang="en-US" dirty="0"/>
          </a:p>
        </p:txBody>
      </p:sp>
      <p:sp>
        <p:nvSpPr>
          <p:cNvPr id="10243" name="Content Placeholder 2">
            <a:extLst>
              <a:ext uri="{FF2B5EF4-FFF2-40B4-BE49-F238E27FC236}">
                <a16:creationId xmlns:a16="http://schemas.microsoft.com/office/drawing/2014/main" id="{BB09DE2E-B613-BAFF-6746-24E449EF3109}"/>
              </a:ext>
            </a:extLst>
          </p:cNvPr>
          <p:cNvSpPr>
            <a:spLocks noGrp="1"/>
          </p:cNvSpPr>
          <p:nvPr>
            <p:ph idx="1"/>
          </p:nvPr>
        </p:nvSpPr>
        <p:spPr>
          <a:xfrm>
            <a:off x="293688" y="1304925"/>
            <a:ext cx="11576050" cy="4872038"/>
          </a:xfrm>
        </p:spPr>
        <p:txBody>
          <a:bodyPr>
            <a:normAutofit lnSpcReduction="10000"/>
          </a:bodyPr>
          <a:lstStyle/>
          <a:p>
            <a:pPr marL="0" indent="0" algn="just" eaLnBrk="1" hangingPunct="1">
              <a:buFont typeface="Arial" pitchFamily="34" charset="0"/>
              <a:buNone/>
              <a:defRPr/>
            </a:pPr>
            <a:r>
              <a:rPr lang="en-IN" dirty="0"/>
              <a:t>	With the shift towards virtual recruitment, traditional interview systems often fail to capture non-verbal cues and real-time emotional states of candidates. </a:t>
            </a:r>
            <a:r>
              <a:rPr lang="en-IN" b="1" dirty="0"/>
              <a:t>FaceSense AI</a:t>
            </a:r>
            <a:r>
              <a:rPr lang="en-IN" dirty="0"/>
              <a:t> addresses this gap by providing an AI-powered video interview platform that integrates real-time facial emotion recognition, sentiment analysis, and automated feedback. The system simulates a realistic interview environment where an AI interviewer dynamically generates questions, transcribes responses using </a:t>
            </a:r>
            <a:r>
              <a:rPr lang="en-IN" b="1" dirty="0"/>
              <a:t>Whisper AI</a:t>
            </a:r>
            <a:r>
              <a:rPr lang="en-IN" dirty="0"/>
              <a:t>, and analyzes emotions through </a:t>
            </a:r>
            <a:r>
              <a:rPr lang="en-IN" b="1" dirty="0"/>
              <a:t>DeepFace</a:t>
            </a:r>
            <a:r>
              <a:rPr lang="en-IN" dirty="0"/>
              <a:t>. The backend, built in Python, handles AI processing, while a React-based frontend delivers an interactive user interface. Key features include candidate authentication, real-time emotion tracking, sentiment scoring, and automated performance reports with actionable suggestions. The platform is designed for scalability, making it suitable for HR teams, recruitment agencies, and career guidance platforms. By offering unbiased, data-driven assessments, </a:t>
            </a:r>
            <a:r>
              <a:rPr lang="en-IN" b="1" dirty="0"/>
              <a:t>FaceSense AI</a:t>
            </a:r>
            <a:r>
              <a:rPr lang="en-IN" dirty="0"/>
              <a:t> not only streamlines the hiring process but also empowers job seekers to enhance their performance, making it valuable for both industry and societal skill development initiatives.</a:t>
            </a:r>
          </a:p>
          <a:p>
            <a:pPr eaLnBrk="1" hangingPunct="1">
              <a:defRPr/>
            </a:pPr>
            <a:endParaRPr lang="en-IN" altLang="en-US" dirty="0"/>
          </a:p>
        </p:txBody>
      </p:sp>
      <p:sp>
        <p:nvSpPr>
          <p:cNvPr id="10244" name="Slide Number Placeholder 3">
            <a:extLst>
              <a:ext uri="{FF2B5EF4-FFF2-40B4-BE49-F238E27FC236}">
                <a16:creationId xmlns:a16="http://schemas.microsoft.com/office/drawing/2014/main" id="{82D26DAA-838A-6EE9-2634-23FC4864395D}"/>
              </a:ext>
            </a:extLst>
          </p:cNvPr>
          <p:cNvSpPr>
            <a:spLocks noGrp="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5</a:t>
            </a:fld>
            <a:endParaRPr lang="en-IN" altLang="en-US" sz="1200">
              <a:solidFill>
                <a:schemeClr val="bg1"/>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93688" y="322263"/>
            <a:ext cx="10333037" cy="725487"/>
          </a:xfrm>
        </p:spPr>
        <p:txBody>
          <a:bodyPr/>
          <a:lstStyle/>
          <a:p>
            <a:pPr eaLnBrk="1" hangingPunct="1"/>
            <a:r>
              <a:rPr lang="en-IN" altLang="en-US" b="1" dirty="0"/>
              <a:t>Base Paper</a:t>
            </a:r>
          </a:p>
        </p:txBody>
      </p:sp>
      <p:pic>
        <p:nvPicPr>
          <p:cNvPr id="11267" name="Content Placeholder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008313" y="892175"/>
            <a:ext cx="5092700" cy="5284788"/>
          </a:xfrm>
        </p:spPr>
      </p:pic>
      <p:sp>
        <p:nvSpPr>
          <p:cNvPr id="11268" name="Slide Number Placeholder 3"/>
          <p:cNvSpPr>
            <a:spLocks noGrp="1"/>
          </p:cNvSpPr>
          <p:nvPr>
            <p:ph type="sldNum" sz="quarter" idx="4294967295"/>
          </p:nvPr>
        </p:nvSpPr>
        <p:spPr bwMode="auto">
          <a:xfrm>
            <a:off x="11014604" y="6263217"/>
            <a:ext cx="736600" cy="276225"/>
          </a:xfrm>
          <a:prstGeom prst="rect">
            <a:avLst/>
          </a:prstGeom>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ptos"/>
              </a:defRPr>
            </a:lvl1pPr>
            <a:lvl2pPr marL="742950" indent="-285750">
              <a:defRPr sz="2400">
                <a:solidFill>
                  <a:schemeClr val="tx1"/>
                </a:solidFill>
                <a:latin typeface="Aptos"/>
              </a:defRPr>
            </a:lvl2pPr>
            <a:lvl3pPr>
              <a:defRPr sz="2000">
                <a:solidFill>
                  <a:schemeClr val="tx1"/>
                </a:solidFill>
                <a:latin typeface="Aptos"/>
              </a:defRPr>
            </a:lvl3pPr>
            <a:lvl4pPr>
              <a:defRPr>
                <a:solidFill>
                  <a:schemeClr val="tx1"/>
                </a:solidFill>
                <a:latin typeface="Aptos"/>
              </a:defRPr>
            </a:lvl4pPr>
            <a:lvl5pPr>
              <a:defRPr>
                <a:solidFill>
                  <a:schemeClr val="tx1"/>
                </a:solidFill>
                <a:latin typeface="Aptos"/>
              </a:defRPr>
            </a:lvl5pPr>
            <a:lvl6pPr eaLnBrk="0" fontAlgn="base" hangingPunct="0">
              <a:spcAft>
                <a:spcPct val="0"/>
              </a:spcAft>
              <a:defRPr>
                <a:solidFill>
                  <a:schemeClr val="tx1"/>
                </a:solidFill>
                <a:latin typeface="Aptos"/>
              </a:defRPr>
            </a:lvl6pPr>
            <a:lvl7pPr eaLnBrk="0" fontAlgn="base" hangingPunct="0">
              <a:spcAft>
                <a:spcPct val="0"/>
              </a:spcAft>
              <a:defRPr>
                <a:solidFill>
                  <a:schemeClr val="tx1"/>
                </a:solidFill>
                <a:latin typeface="Aptos"/>
              </a:defRPr>
            </a:lvl7pPr>
            <a:lvl8pPr eaLnBrk="0" fontAlgn="base" hangingPunct="0">
              <a:spcAft>
                <a:spcPct val="0"/>
              </a:spcAft>
              <a:defRPr>
                <a:solidFill>
                  <a:schemeClr val="tx1"/>
                </a:solidFill>
                <a:latin typeface="Aptos"/>
              </a:defRPr>
            </a:lvl8pPr>
            <a:lvl9pPr eaLnBrk="0" fontAlgn="base" hangingPunct="0">
              <a:spcAft>
                <a:spcPct val="0"/>
              </a:spcAft>
              <a:defRPr>
                <a:solidFill>
                  <a:schemeClr val="tx1"/>
                </a:solidFill>
                <a:latin typeface="Aptos"/>
              </a:defRPr>
            </a:lvl9pPr>
          </a:lstStyle>
          <a:p>
            <a:fld id="{DE86D036-BBC4-484F-AF54-8BAFCA514656}" type="slidenum">
              <a:rPr lang="en-IN" altLang="en-US" sz="1200">
                <a:solidFill>
                  <a:schemeClr val="bg1"/>
                </a:solidFill>
                <a:latin typeface="Arial" pitchFamily="34" charset="0"/>
              </a:rPr>
              <a:pPr/>
              <a:t>6</a:t>
            </a:fld>
            <a:endParaRPr lang="en-IN" altLang="en-US" sz="1200">
              <a:solidFill>
                <a:schemeClr val="bg1"/>
              </a:solidFill>
              <a:latin typeface="Arial" pitchFamily="34" charset="0"/>
            </a:endParaRPr>
          </a:p>
        </p:txBody>
      </p:sp>
      <p:sp>
        <p:nvSpPr>
          <p:cNvPr id="2" name="Slide Number Placeholder 3">
            <a:extLst>
              <a:ext uri="{FF2B5EF4-FFF2-40B4-BE49-F238E27FC236}">
                <a16:creationId xmlns:a16="http://schemas.microsoft.com/office/drawing/2014/main" id="{B1E6FDBF-51DC-ECF0-E061-068B1C3DAE97}"/>
              </a:ext>
            </a:extLst>
          </p:cNvPr>
          <p:cNvSpPr>
            <a:spLocks noGrp="1"/>
          </p:cNvSpPr>
          <p:nvPr>
            <p:ph type="sldNum" idx="12"/>
          </p:nvPr>
        </p:nvSpPr>
        <p:spPr>
          <a:xfrm>
            <a:off x="11132597" y="6356350"/>
            <a:ext cx="736847" cy="276999"/>
          </a:xfrm>
        </p:spPr>
        <p:txBody>
          <a:bodyPr/>
          <a:lstStyle/>
          <a:p>
            <a:pPr marL="0" lvl="0" indent="0" algn="ctr" rtl="0">
              <a:spcBef>
                <a:spcPts val="0"/>
              </a:spcBef>
              <a:spcAft>
                <a:spcPts val="0"/>
              </a:spcAft>
              <a:buNone/>
            </a:pPr>
            <a:fld id="{00000000-1234-1234-1234-123412341234}" type="slidenum">
              <a:rPr lang="en-IN" smtClean="0"/>
              <a:t>6</a:t>
            </a:fld>
            <a:endParaRPr lang="en-IN"/>
          </a:p>
        </p:txBody>
      </p:sp>
    </p:spTree>
    <p:extLst>
      <p:ext uri="{BB962C8B-B14F-4D97-AF65-F5344CB8AC3E}">
        <p14:creationId xmlns:p14="http://schemas.microsoft.com/office/powerpoint/2010/main" val="779230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058DB-742C-ECB5-9C94-22F95ED92C09}"/>
              </a:ext>
            </a:extLst>
          </p:cNvPr>
          <p:cNvSpPr>
            <a:spLocks noGrp="1"/>
          </p:cNvSpPr>
          <p:nvPr>
            <p:ph type="title"/>
          </p:nvPr>
        </p:nvSpPr>
        <p:spPr/>
        <p:txBody>
          <a:bodyPr>
            <a:normAutofit/>
          </a:bodyPr>
          <a:lstStyle/>
          <a:p>
            <a:r>
              <a:rPr lang="en-IN" b="1" dirty="0"/>
              <a:t>Literature Review</a:t>
            </a:r>
          </a:p>
        </p:txBody>
      </p:sp>
      <p:sp>
        <p:nvSpPr>
          <p:cNvPr id="3" name="Text Placeholder 2">
            <a:extLst>
              <a:ext uri="{FF2B5EF4-FFF2-40B4-BE49-F238E27FC236}">
                <a16:creationId xmlns:a16="http://schemas.microsoft.com/office/drawing/2014/main" id="{3D916B36-BBAF-78CA-4923-BF36193E3AD0}"/>
              </a:ext>
            </a:extLst>
          </p:cNvPr>
          <p:cNvSpPr>
            <a:spLocks noGrp="1"/>
          </p:cNvSpPr>
          <p:nvPr>
            <p:ph type="body" idx="1"/>
          </p:nvPr>
        </p:nvSpPr>
        <p:spPr/>
        <p:txBody>
          <a:bodyPr>
            <a:normAutofit lnSpcReduction="10000"/>
          </a:bodyPr>
          <a:lstStyle/>
          <a:p>
            <a:r>
              <a:rPr lang="en-US" b="1" dirty="0"/>
              <a:t>Paper 1:</a:t>
            </a:r>
            <a:r>
              <a:rPr lang="en-US" dirty="0"/>
              <a:t> </a:t>
            </a:r>
            <a:r>
              <a:rPr lang="en-US" i="1" dirty="0"/>
              <a:t>“Deep Learning-Based Human Emotion Recognition from Facial Expressions”</a:t>
            </a:r>
            <a:br>
              <a:rPr lang="en-US" dirty="0"/>
            </a:br>
            <a:r>
              <a:rPr lang="en-US" b="1" dirty="0"/>
              <a:t>Authors:</a:t>
            </a:r>
            <a:r>
              <a:rPr lang="en-US" dirty="0"/>
              <a:t> S. Li et al., IEEE Access, 2019</a:t>
            </a:r>
            <a:br>
              <a:rPr lang="en-US" dirty="0"/>
            </a:br>
            <a:r>
              <a:rPr lang="en-US" b="1" dirty="0"/>
              <a:t>About the Paper:</a:t>
            </a:r>
            <a:br>
              <a:rPr lang="en-US" dirty="0"/>
            </a:br>
            <a:r>
              <a:rPr lang="en-US" dirty="0"/>
              <a:t>Introduces convolutional neural networks for automatic facial emotion recognition. The work demonstrates how CNNs capture micro-expressions and subtle cues from video frames, forming the basis for real-time emotion detection in modern AI systems like </a:t>
            </a:r>
            <a:r>
              <a:rPr lang="en-US" dirty="0" err="1"/>
              <a:t>FaceSense</a:t>
            </a:r>
            <a:r>
              <a:rPr lang="en-US" dirty="0"/>
              <a:t> AI.</a:t>
            </a:r>
          </a:p>
          <a:p>
            <a:r>
              <a:rPr lang="en-US" b="1" dirty="0"/>
              <a:t>Paper 2:</a:t>
            </a:r>
            <a:r>
              <a:rPr lang="en-US" dirty="0"/>
              <a:t> </a:t>
            </a:r>
            <a:r>
              <a:rPr lang="en-US" i="1" dirty="0"/>
              <a:t>“Real-Time Speech Emotion Recognition Using Deep Recurrent Neural Networks”</a:t>
            </a:r>
            <a:br>
              <a:rPr lang="en-US" dirty="0"/>
            </a:br>
            <a:r>
              <a:rPr lang="en-US" b="1" dirty="0"/>
              <a:t>Authors:</a:t>
            </a:r>
            <a:r>
              <a:rPr lang="en-US" dirty="0"/>
              <a:t> M. Neumann and N. Vu, ICASSP 2020</a:t>
            </a:r>
            <a:br>
              <a:rPr lang="en-US" dirty="0"/>
            </a:br>
            <a:r>
              <a:rPr lang="en-US" b="1" dirty="0"/>
              <a:t>About the Paper:</a:t>
            </a:r>
            <a:br>
              <a:rPr lang="en-US" dirty="0"/>
            </a:br>
            <a:r>
              <a:rPr lang="en-US" dirty="0"/>
              <a:t>Proposes a recurrent neural-network-based framework for analyzing emotional tone in voice recordings. It highlights how integrating acoustic and linguistic cues enhances interview-style sentiment assessment.</a:t>
            </a:r>
          </a:p>
          <a:p>
            <a:pPr marL="76200" indent="0" algn="just">
              <a:lnSpc>
                <a:spcPct val="100000"/>
              </a:lnSpc>
              <a:buNone/>
            </a:pPr>
            <a:endParaRPr lang="en-IN" dirty="0"/>
          </a:p>
        </p:txBody>
      </p:sp>
      <p:sp>
        <p:nvSpPr>
          <p:cNvPr id="4" name="Slide Number Placeholder 3">
            <a:extLst>
              <a:ext uri="{FF2B5EF4-FFF2-40B4-BE49-F238E27FC236}">
                <a16:creationId xmlns:a16="http://schemas.microsoft.com/office/drawing/2014/main" id="{59C50C5B-5B43-2725-7F58-AF8DE6D268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7</a:t>
            </a:fld>
            <a:endParaRPr lang="en-IN"/>
          </a:p>
        </p:txBody>
      </p:sp>
    </p:spTree>
    <p:extLst>
      <p:ext uri="{BB962C8B-B14F-4D97-AF65-F5344CB8AC3E}">
        <p14:creationId xmlns:p14="http://schemas.microsoft.com/office/powerpoint/2010/main" val="821302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51274-12D8-5314-F5AE-30B335DAD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0D683-617C-D2B5-5CE7-CAD9A2967546}"/>
              </a:ext>
            </a:extLst>
          </p:cNvPr>
          <p:cNvSpPr>
            <a:spLocks noGrp="1"/>
          </p:cNvSpPr>
          <p:nvPr>
            <p:ph type="title"/>
          </p:nvPr>
        </p:nvSpPr>
        <p:spPr/>
        <p:txBody>
          <a:bodyPr>
            <a:normAutofit/>
          </a:bodyPr>
          <a:lstStyle/>
          <a:p>
            <a:r>
              <a:rPr lang="en-IN" b="1" dirty="0"/>
              <a:t>Literature Review(</a:t>
            </a:r>
            <a:r>
              <a:rPr lang="en-IN" b="1" dirty="0" err="1"/>
              <a:t>contd</a:t>
            </a:r>
            <a:r>
              <a:rPr lang="en-IN" b="1" dirty="0"/>
              <a:t>…)</a:t>
            </a:r>
          </a:p>
        </p:txBody>
      </p:sp>
      <p:sp>
        <p:nvSpPr>
          <p:cNvPr id="3" name="Text Placeholder 2">
            <a:extLst>
              <a:ext uri="{FF2B5EF4-FFF2-40B4-BE49-F238E27FC236}">
                <a16:creationId xmlns:a16="http://schemas.microsoft.com/office/drawing/2014/main" id="{B6C82C80-8FCF-00AA-2C8B-25CF83648CAD}"/>
              </a:ext>
            </a:extLst>
          </p:cNvPr>
          <p:cNvSpPr>
            <a:spLocks noGrp="1"/>
          </p:cNvSpPr>
          <p:nvPr>
            <p:ph type="body" idx="1"/>
          </p:nvPr>
        </p:nvSpPr>
        <p:spPr/>
        <p:txBody>
          <a:bodyPr>
            <a:normAutofit lnSpcReduction="10000"/>
          </a:bodyPr>
          <a:lstStyle/>
          <a:p>
            <a:r>
              <a:rPr lang="en-US" b="1" dirty="0"/>
              <a:t>Paper 3:</a:t>
            </a:r>
            <a:r>
              <a:rPr lang="en-US" dirty="0"/>
              <a:t> </a:t>
            </a:r>
            <a:r>
              <a:rPr lang="en-US" i="1" dirty="0"/>
              <a:t>“Multimodal Sentiment Analysis Combining Facial Expressions and Speech”</a:t>
            </a:r>
            <a:br>
              <a:rPr lang="en-US" dirty="0"/>
            </a:br>
            <a:r>
              <a:rPr lang="en-US" b="1" dirty="0"/>
              <a:t>Authors:</a:t>
            </a:r>
            <a:r>
              <a:rPr lang="en-US" dirty="0"/>
              <a:t> P. </a:t>
            </a:r>
            <a:r>
              <a:rPr lang="en-US" dirty="0" err="1"/>
              <a:t>Tzirakis</a:t>
            </a:r>
            <a:r>
              <a:rPr lang="en-US" dirty="0"/>
              <a:t> et al., IEEE Transactions on Affective Computing, 2021</a:t>
            </a:r>
            <a:br>
              <a:rPr lang="en-US" dirty="0"/>
            </a:br>
            <a:r>
              <a:rPr lang="en-US" b="1" dirty="0"/>
              <a:t>About the Paper:</a:t>
            </a:r>
            <a:br>
              <a:rPr lang="en-US" dirty="0"/>
            </a:br>
            <a:r>
              <a:rPr lang="en-US" dirty="0"/>
              <a:t>Explores fusion of visual and audio modalities for better sentiment prediction. The study shows that merging face and voice features improves emotion-recognition accuracy—an approach directly used in </a:t>
            </a:r>
            <a:r>
              <a:rPr lang="en-US" dirty="0" err="1"/>
              <a:t>FaceSense</a:t>
            </a:r>
            <a:r>
              <a:rPr lang="en-US" dirty="0"/>
              <a:t> AI’s multimodal feedback.</a:t>
            </a:r>
          </a:p>
          <a:p>
            <a:r>
              <a:rPr lang="en-US" b="1" dirty="0"/>
              <a:t>Paper 4:</a:t>
            </a:r>
            <a:r>
              <a:rPr lang="en-US" dirty="0"/>
              <a:t> </a:t>
            </a:r>
            <a:r>
              <a:rPr lang="en-US" i="1" dirty="0"/>
              <a:t>“Automated Behavioral Analysis for Virtual Job Interviews Using AI”</a:t>
            </a:r>
            <a:br>
              <a:rPr lang="en-US" dirty="0"/>
            </a:br>
            <a:r>
              <a:rPr lang="en-US" b="1" dirty="0"/>
              <a:t>Authors:</a:t>
            </a:r>
            <a:r>
              <a:rPr lang="en-US" dirty="0"/>
              <a:t> A. Gupta and K. Sharma, International Journal of AI Research, 2022</a:t>
            </a:r>
            <a:br>
              <a:rPr lang="en-US" dirty="0"/>
            </a:br>
            <a:r>
              <a:rPr lang="en-US" b="1" dirty="0"/>
              <a:t>About the Paper:</a:t>
            </a:r>
            <a:br>
              <a:rPr lang="en-US" dirty="0"/>
            </a:br>
            <a:r>
              <a:rPr lang="en-US" dirty="0"/>
              <a:t>Develops an AI framework that analyzes facial expressions and voice tone to assess candidate performance. The methodology inspires </a:t>
            </a:r>
            <a:r>
              <a:rPr lang="en-US" dirty="0" err="1"/>
              <a:t>FaceSense</a:t>
            </a:r>
            <a:r>
              <a:rPr lang="en-US" dirty="0"/>
              <a:t> AI’s mock-interview and evaluation structure.</a:t>
            </a:r>
          </a:p>
          <a:p>
            <a:pPr marL="76200" indent="0" algn="just">
              <a:lnSpc>
                <a:spcPct val="100000"/>
              </a:lnSpc>
              <a:buNone/>
            </a:pPr>
            <a:endParaRPr lang="en-IN" dirty="0"/>
          </a:p>
        </p:txBody>
      </p:sp>
      <p:sp>
        <p:nvSpPr>
          <p:cNvPr id="4" name="Slide Number Placeholder 3">
            <a:extLst>
              <a:ext uri="{FF2B5EF4-FFF2-40B4-BE49-F238E27FC236}">
                <a16:creationId xmlns:a16="http://schemas.microsoft.com/office/drawing/2014/main" id="{11BDA486-7C9F-CC00-0EEB-046677E2451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8</a:t>
            </a:fld>
            <a:endParaRPr lang="en-IN"/>
          </a:p>
        </p:txBody>
      </p:sp>
    </p:spTree>
    <p:extLst>
      <p:ext uri="{BB962C8B-B14F-4D97-AF65-F5344CB8AC3E}">
        <p14:creationId xmlns:p14="http://schemas.microsoft.com/office/powerpoint/2010/main" val="601857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7B5D6-6BF5-B7D3-9AB5-F9B862DE3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B82B6-FA2E-8B5D-D95B-A8CD6FD821A7}"/>
              </a:ext>
            </a:extLst>
          </p:cNvPr>
          <p:cNvSpPr>
            <a:spLocks noGrp="1"/>
          </p:cNvSpPr>
          <p:nvPr>
            <p:ph type="title"/>
          </p:nvPr>
        </p:nvSpPr>
        <p:spPr/>
        <p:txBody>
          <a:bodyPr>
            <a:normAutofit/>
          </a:bodyPr>
          <a:lstStyle/>
          <a:p>
            <a:r>
              <a:rPr lang="en-IN" b="1" dirty="0"/>
              <a:t>Literature Review(</a:t>
            </a:r>
            <a:r>
              <a:rPr lang="en-IN" b="1" dirty="0" err="1"/>
              <a:t>contd</a:t>
            </a:r>
            <a:r>
              <a:rPr lang="en-IN" b="1" dirty="0"/>
              <a:t>…)</a:t>
            </a:r>
          </a:p>
        </p:txBody>
      </p:sp>
      <p:sp>
        <p:nvSpPr>
          <p:cNvPr id="3" name="Text Placeholder 2">
            <a:extLst>
              <a:ext uri="{FF2B5EF4-FFF2-40B4-BE49-F238E27FC236}">
                <a16:creationId xmlns:a16="http://schemas.microsoft.com/office/drawing/2014/main" id="{7DD71B78-5B1A-18A7-DAF3-6032F6B17512}"/>
              </a:ext>
            </a:extLst>
          </p:cNvPr>
          <p:cNvSpPr>
            <a:spLocks noGrp="1"/>
          </p:cNvSpPr>
          <p:nvPr>
            <p:ph type="body" idx="1"/>
          </p:nvPr>
        </p:nvSpPr>
        <p:spPr/>
        <p:txBody>
          <a:bodyPr>
            <a:normAutofit/>
          </a:bodyPr>
          <a:lstStyle/>
          <a:p>
            <a:r>
              <a:rPr lang="en-IN" b="1" dirty="0"/>
              <a:t>Paper 5:</a:t>
            </a:r>
            <a:r>
              <a:rPr lang="en-IN" dirty="0"/>
              <a:t> </a:t>
            </a:r>
            <a:r>
              <a:rPr lang="en-IN" i="1" dirty="0"/>
              <a:t>“Whisper: Robust Speech Recognition via Large-Scale Weak Supervision”</a:t>
            </a:r>
            <a:br>
              <a:rPr lang="en-IN" dirty="0"/>
            </a:br>
            <a:r>
              <a:rPr lang="en-IN" b="1" dirty="0"/>
              <a:t>Authors:</a:t>
            </a:r>
            <a:r>
              <a:rPr lang="en-IN" dirty="0"/>
              <a:t> A. Radford et al., OpenAI Research, 2022</a:t>
            </a:r>
            <a:br>
              <a:rPr lang="en-IN" dirty="0"/>
            </a:br>
            <a:r>
              <a:rPr lang="en-IN" b="1" dirty="0"/>
              <a:t>About the Paper:</a:t>
            </a:r>
            <a:br>
              <a:rPr lang="en-IN" dirty="0"/>
            </a:br>
            <a:r>
              <a:rPr lang="en-IN" dirty="0"/>
              <a:t>Introduces Whisper, a multilingual speech-to-text model trained on large audio datasets. Its robustness to noise and accents underpins </a:t>
            </a:r>
            <a:r>
              <a:rPr lang="en-IN" dirty="0" err="1"/>
              <a:t>FaceSense</a:t>
            </a:r>
            <a:r>
              <a:rPr lang="en-IN" dirty="0"/>
              <a:t> AI’s accurate real-time transcription of candidate responses.</a:t>
            </a:r>
          </a:p>
        </p:txBody>
      </p:sp>
      <p:sp>
        <p:nvSpPr>
          <p:cNvPr id="4" name="Slide Number Placeholder 3">
            <a:extLst>
              <a:ext uri="{FF2B5EF4-FFF2-40B4-BE49-F238E27FC236}">
                <a16:creationId xmlns:a16="http://schemas.microsoft.com/office/drawing/2014/main" id="{017BD876-2338-C5BC-58A5-D2C215AEF95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9</a:t>
            </a:fld>
            <a:endParaRPr lang="en-IN"/>
          </a:p>
        </p:txBody>
      </p:sp>
    </p:spTree>
    <p:extLst>
      <p:ext uri="{BB962C8B-B14F-4D97-AF65-F5344CB8AC3E}">
        <p14:creationId xmlns:p14="http://schemas.microsoft.com/office/powerpoint/2010/main" val="1715701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A26DB83A-6080-B004-D7FF-9F6EFD138CAC}"/>
              </a:ext>
            </a:extLst>
          </p:cNvPr>
          <p:cNvSpPr>
            <a:spLocks noGrp="1"/>
          </p:cNvSpPr>
          <p:nvPr>
            <p:ph type="title"/>
          </p:nvPr>
        </p:nvSpPr>
        <p:spPr>
          <a:xfrm>
            <a:off x="293688" y="322263"/>
            <a:ext cx="10333037" cy="725487"/>
          </a:xfrm>
        </p:spPr>
        <p:txBody>
          <a:bodyPr/>
          <a:lstStyle/>
          <a:p>
            <a:pPr eaLnBrk="1" hangingPunct="1"/>
            <a:r>
              <a:rPr lang="en-IN" altLang="en-US" b="1" dirty="0"/>
              <a:t>Existing Project</a:t>
            </a:r>
            <a:endParaRPr lang="en-IN" altLang="en-US" dirty="0"/>
          </a:p>
        </p:txBody>
      </p:sp>
      <p:sp>
        <p:nvSpPr>
          <p:cNvPr id="12291" name="Content Placeholder 2">
            <a:extLst>
              <a:ext uri="{FF2B5EF4-FFF2-40B4-BE49-F238E27FC236}">
                <a16:creationId xmlns:a16="http://schemas.microsoft.com/office/drawing/2014/main" id="{ADDAC1C1-4543-EDB7-0CDD-FAFCA2D49CD7}"/>
              </a:ext>
            </a:extLst>
          </p:cNvPr>
          <p:cNvSpPr>
            <a:spLocks noGrp="1"/>
          </p:cNvSpPr>
          <p:nvPr>
            <p:ph idx="1"/>
          </p:nvPr>
        </p:nvSpPr>
        <p:spPr>
          <a:xfrm>
            <a:off x="293688" y="1304925"/>
            <a:ext cx="11576050" cy="4872038"/>
          </a:xfrm>
        </p:spPr>
        <p:txBody>
          <a:bodyPr/>
          <a:lstStyle/>
          <a:p>
            <a:pPr algn="just" eaLnBrk="1" hangingPunct="1"/>
            <a:r>
              <a:rPr lang="en-US" altLang="en-US" dirty="0"/>
              <a:t>Existing platforms like Zoom and Microsoft Teams provide video-based interviews and basic candidate evaluation features. </a:t>
            </a:r>
          </a:p>
          <a:p>
            <a:pPr algn="just" eaLnBrk="1" hangingPunct="1"/>
            <a:r>
              <a:rPr lang="en-US" altLang="en-US" dirty="0"/>
              <a:t>Some tools incorporate automated assessments, but they often lack real-time sentiment and facial expression analysis, limiting the depth of evaluation. </a:t>
            </a:r>
          </a:p>
          <a:p>
            <a:pPr algn="just" eaLnBrk="1" hangingPunct="1"/>
            <a:r>
              <a:rPr lang="en-US" altLang="en-US" dirty="0"/>
              <a:t>Most existing systems focus on video recording and question delivery rather than intelligent interpretation of candidate emotions and communication styles.</a:t>
            </a:r>
            <a:endParaRPr lang="en-IN" altLang="en-US" dirty="0"/>
          </a:p>
        </p:txBody>
      </p:sp>
      <p:sp>
        <p:nvSpPr>
          <p:cNvPr id="12292" name="Slide Number Placeholder 3">
            <a:extLst>
              <a:ext uri="{FF2B5EF4-FFF2-40B4-BE49-F238E27FC236}">
                <a16:creationId xmlns:a16="http://schemas.microsoft.com/office/drawing/2014/main" id="{12E72801-1A08-2676-BA40-76ED3C7D9243}"/>
              </a:ext>
            </a:extLst>
          </p:cNvPr>
          <p:cNvSpPr>
            <a:spLocks noGrp="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10</a:t>
            </a:fld>
            <a:endParaRPr lang="en-IN" altLang="en-US" sz="1200">
              <a:solidFill>
                <a:schemeClr val="bg1"/>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1B578E70-64FF-3995-BCBA-D9329DA54C22}"/>
              </a:ext>
            </a:extLst>
          </p:cNvPr>
          <p:cNvSpPr>
            <a:spLocks noGrp="1"/>
          </p:cNvSpPr>
          <p:nvPr>
            <p:ph type="title"/>
          </p:nvPr>
        </p:nvSpPr>
        <p:spPr>
          <a:xfrm>
            <a:off x="293688" y="322263"/>
            <a:ext cx="10333037" cy="725487"/>
          </a:xfrm>
        </p:spPr>
        <p:txBody>
          <a:bodyPr/>
          <a:lstStyle/>
          <a:p>
            <a:pPr eaLnBrk="1" hangingPunct="1"/>
            <a:r>
              <a:rPr lang="en-IN" altLang="en-US" b="1" dirty="0"/>
              <a:t>Drawbacks</a:t>
            </a:r>
            <a:endParaRPr lang="en-IN" altLang="en-US" dirty="0"/>
          </a:p>
        </p:txBody>
      </p:sp>
      <p:sp>
        <p:nvSpPr>
          <p:cNvPr id="13315" name="Content Placeholder 2">
            <a:extLst>
              <a:ext uri="{FF2B5EF4-FFF2-40B4-BE49-F238E27FC236}">
                <a16:creationId xmlns:a16="http://schemas.microsoft.com/office/drawing/2014/main" id="{BE9A8A69-8037-E7AD-6FE8-BAB14B5467F9}"/>
              </a:ext>
            </a:extLst>
          </p:cNvPr>
          <p:cNvSpPr>
            <a:spLocks noGrp="1"/>
          </p:cNvSpPr>
          <p:nvPr>
            <p:ph idx="1"/>
          </p:nvPr>
        </p:nvSpPr>
        <p:spPr>
          <a:xfrm>
            <a:off x="293688" y="1304925"/>
            <a:ext cx="11576050" cy="4872038"/>
          </a:xfrm>
        </p:spPr>
        <p:txBody>
          <a:bodyPr>
            <a:normAutofit/>
          </a:bodyPr>
          <a:lstStyle/>
          <a:p>
            <a:pPr algn="just" eaLnBrk="1" hangingPunct="1"/>
            <a:r>
              <a:rPr lang="en-US" altLang="en-US" dirty="0"/>
              <a:t>No sentiment or tone analysis</a:t>
            </a:r>
          </a:p>
          <a:p>
            <a:pPr algn="just" eaLnBrk="1" hangingPunct="1"/>
            <a:r>
              <a:rPr lang="en-US" altLang="en-US" dirty="0"/>
              <a:t>Requires manual review by recruiters</a:t>
            </a:r>
          </a:p>
          <a:p>
            <a:pPr algn="just" eaLnBrk="1" hangingPunct="1"/>
            <a:r>
              <a:rPr lang="en-US" altLang="en-US" dirty="0"/>
              <a:t>High chances of human bias</a:t>
            </a:r>
          </a:p>
          <a:p>
            <a:pPr algn="just" eaLnBrk="1" hangingPunct="1"/>
            <a:r>
              <a:rPr lang="en-US" altLang="en-US" dirty="0"/>
              <a:t>Cannot auto-generate or adapt interview questions</a:t>
            </a:r>
          </a:p>
          <a:p>
            <a:pPr algn="just" eaLnBrk="1" hangingPunct="1"/>
            <a:r>
              <a:rPr lang="en-US" altLang="en-US" dirty="0"/>
              <a:t>No behavioral or confidence evaluation</a:t>
            </a:r>
          </a:p>
          <a:p>
            <a:pPr algn="just" eaLnBrk="1" hangingPunct="1"/>
            <a:r>
              <a:rPr lang="en-US" altLang="en-US" dirty="0"/>
              <a:t>Only records video, does not interpret it</a:t>
            </a:r>
            <a:endParaRPr lang="en-IN" altLang="en-US" dirty="0"/>
          </a:p>
        </p:txBody>
      </p:sp>
      <p:sp>
        <p:nvSpPr>
          <p:cNvPr id="13316" name="Slide Number Placeholder 3">
            <a:extLst>
              <a:ext uri="{FF2B5EF4-FFF2-40B4-BE49-F238E27FC236}">
                <a16:creationId xmlns:a16="http://schemas.microsoft.com/office/drawing/2014/main" id="{5B06DDEF-0A02-0E29-3F6A-2B5262C580A4}"/>
              </a:ext>
            </a:extLst>
          </p:cNvPr>
          <p:cNvSpPr>
            <a:spLocks noGrp="1" noChangeArrowheads="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11</a:t>
            </a:fld>
            <a:endParaRPr lang="en-IN" altLang="en-US" sz="1200">
              <a:solidFill>
                <a:schemeClr val="bg1"/>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6A225B1-DAB7-638C-E635-6045A43C945A}"/>
              </a:ext>
            </a:extLst>
          </p:cNvPr>
          <p:cNvSpPr>
            <a:spLocks noGrp="1"/>
          </p:cNvSpPr>
          <p:nvPr>
            <p:ph type="title"/>
          </p:nvPr>
        </p:nvSpPr>
        <p:spPr>
          <a:xfrm>
            <a:off x="293688" y="322263"/>
            <a:ext cx="10333037" cy="725487"/>
          </a:xfrm>
        </p:spPr>
        <p:txBody>
          <a:bodyPr/>
          <a:lstStyle/>
          <a:p>
            <a:pPr eaLnBrk="1" hangingPunct="1"/>
            <a:r>
              <a:rPr lang="en-IN" altLang="en-US" b="1"/>
              <a:t>Problem Statement</a:t>
            </a:r>
            <a:endParaRPr lang="en-IN" altLang="en-US"/>
          </a:p>
        </p:txBody>
      </p:sp>
      <p:sp>
        <p:nvSpPr>
          <p:cNvPr id="14339" name="Content Placeholder 2">
            <a:extLst>
              <a:ext uri="{FF2B5EF4-FFF2-40B4-BE49-F238E27FC236}">
                <a16:creationId xmlns:a16="http://schemas.microsoft.com/office/drawing/2014/main" id="{5CB7D8D5-0C2C-5E53-504C-71BE1B58D2D6}"/>
              </a:ext>
            </a:extLst>
          </p:cNvPr>
          <p:cNvSpPr>
            <a:spLocks noGrp="1"/>
          </p:cNvSpPr>
          <p:nvPr>
            <p:ph idx="1"/>
          </p:nvPr>
        </p:nvSpPr>
        <p:spPr>
          <a:xfrm>
            <a:off x="293688" y="1304925"/>
            <a:ext cx="11576050" cy="4872038"/>
          </a:xfrm>
        </p:spPr>
        <p:txBody>
          <a:bodyPr/>
          <a:lstStyle/>
          <a:p>
            <a:pPr marL="76200" indent="0" algn="just" eaLnBrk="1" hangingPunct="1">
              <a:buNone/>
            </a:pPr>
            <a:r>
              <a:rPr lang="en-US" altLang="en-US" dirty="0"/>
              <a:t>	The traditional video interview systems do not support automated real-time sentiment analysis and behavior interpretation, which makes the recruitment process time-consuming, less objective, and prone to bias. There is a need for a solution that not only facilitates video interviews but also provides instant insights about candidates’ emotions, confidence level, and engagement.</a:t>
            </a:r>
            <a:endParaRPr lang="en-IN" altLang="en-US" dirty="0"/>
          </a:p>
        </p:txBody>
      </p:sp>
      <p:sp>
        <p:nvSpPr>
          <p:cNvPr id="14340" name="Slide Number Placeholder 3">
            <a:extLst>
              <a:ext uri="{FF2B5EF4-FFF2-40B4-BE49-F238E27FC236}">
                <a16:creationId xmlns:a16="http://schemas.microsoft.com/office/drawing/2014/main" id="{44BD1D2E-2F7B-A664-A728-82A8A970CF9D}"/>
              </a:ext>
            </a:extLst>
          </p:cNvPr>
          <p:cNvSpPr>
            <a:spLocks noGrp="1" noChangeArrowheads="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12</a:t>
            </a:fld>
            <a:endParaRPr lang="en-IN" altLang="en-US" sz="1200">
              <a:solidFill>
                <a:schemeClr val="bg1"/>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247281D-7702-5A18-8B7C-91C61FBD5229}"/>
              </a:ext>
            </a:extLst>
          </p:cNvPr>
          <p:cNvSpPr>
            <a:spLocks noGrp="1"/>
          </p:cNvSpPr>
          <p:nvPr>
            <p:ph type="title"/>
          </p:nvPr>
        </p:nvSpPr>
        <p:spPr>
          <a:xfrm>
            <a:off x="293688" y="322263"/>
            <a:ext cx="10333037" cy="725487"/>
          </a:xfrm>
        </p:spPr>
        <p:txBody>
          <a:bodyPr/>
          <a:lstStyle/>
          <a:p>
            <a:pPr eaLnBrk="1" hangingPunct="1"/>
            <a:r>
              <a:rPr lang="en-IN" altLang="en-US" b="1"/>
              <a:t>Proposed System</a:t>
            </a:r>
            <a:endParaRPr lang="en-IN" altLang="en-US"/>
          </a:p>
        </p:txBody>
      </p:sp>
      <p:sp>
        <p:nvSpPr>
          <p:cNvPr id="15363" name="Content Placeholder 2">
            <a:extLst>
              <a:ext uri="{FF2B5EF4-FFF2-40B4-BE49-F238E27FC236}">
                <a16:creationId xmlns:a16="http://schemas.microsoft.com/office/drawing/2014/main" id="{D7373508-197A-97AD-D254-B0E0E085192B}"/>
              </a:ext>
            </a:extLst>
          </p:cNvPr>
          <p:cNvSpPr>
            <a:spLocks noGrp="1"/>
          </p:cNvSpPr>
          <p:nvPr>
            <p:ph idx="1"/>
          </p:nvPr>
        </p:nvSpPr>
        <p:spPr>
          <a:xfrm>
            <a:off x="293688" y="1304925"/>
            <a:ext cx="11576050" cy="4872038"/>
          </a:xfrm>
        </p:spPr>
        <p:txBody>
          <a:bodyPr/>
          <a:lstStyle/>
          <a:p>
            <a:pPr algn="just" eaLnBrk="1" hangingPunct="1"/>
            <a:r>
              <a:rPr lang="en-US" altLang="en-US" dirty="0"/>
              <a:t>The proposed system is an </a:t>
            </a:r>
            <a:r>
              <a:rPr lang="en-US" altLang="en-US" b="1" dirty="0"/>
              <a:t>AI-driven real-time video interview platform</a:t>
            </a:r>
            <a:r>
              <a:rPr lang="en-US" altLang="en-US" dirty="0"/>
              <a:t> integrated with </a:t>
            </a:r>
            <a:r>
              <a:rPr lang="en-US" altLang="en-US" b="1" dirty="0"/>
              <a:t>machine learning algorithms for sentiment analysis</a:t>
            </a:r>
            <a:r>
              <a:rPr lang="en-US" altLang="en-US" dirty="0"/>
              <a:t>. </a:t>
            </a:r>
          </a:p>
          <a:p>
            <a:pPr algn="just" eaLnBrk="1" hangingPunct="1"/>
            <a:r>
              <a:rPr lang="en-US" altLang="en-US" dirty="0"/>
              <a:t>The system will use </a:t>
            </a:r>
            <a:r>
              <a:rPr lang="en-US" altLang="en-US" b="1" dirty="0"/>
              <a:t>computer vision</a:t>
            </a:r>
            <a:r>
              <a:rPr lang="en-US" altLang="en-US" dirty="0"/>
              <a:t> to analyze facial expressions, body language, and emotions, as well as </a:t>
            </a:r>
            <a:r>
              <a:rPr lang="en-US" altLang="en-US" b="1" dirty="0"/>
              <a:t>natural language processing (NLP)</a:t>
            </a:r>
            <a:r>
              <a:rPr lang="en-US" altLang="en-US" dirty="0"/>
              <a:t> to evaluate tone, mood, and communication effectiveness. </a:t>
            </a:r>
          </a:p>
          <a:p>
            <a:pPr algn="just" eaLnBrk="1" hangingPunct="1"/>
            <a:r>
              <a:rPr lang="en-US" altLang="en-US" dirty="0"/>
              <a:t>The output will provide both recruiters and candidates with real-time feedback and comprehensive reports, enabling efficient, unbiased, and intelligent decision-making in candidate </a:t>
            </a:r>
            <a:r>
              <a:rPr lang="en-US" altLang="en-US"/>
              <a:t>evaluation.</a:t>
            </a:r>
            <a:endParaRPr lang="en-IN" altLang="en-US" dirty="0"/>
          </a:p>
        </p:txBody>
      </p:sp>
      <p:sp>
        <p:nvSpPr>
          <p:cNvPr id="15364" name="Slide Number Placeholder 3">
            <a:extLst>
              <a:ext uri="{FF2B5EF4-FFF2-40B4-BE49-F238E27FC236}">
                <a16:creationId xmlns:a16="http://schemas.microsoft.com/office/drawing/2014/main" id="{C3833A78-052C-327F-09BD-4F85B554F2BD}"/>
              </a:ext>
            </a:extLst>
          </p:cNvPr>
          <p:cNvSpPr>
            <a:spLocks noGrp="1" noChangeArrowheads="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13</a:t>
            </a:fld>
            <a:endParaRPr lang="en-IN" altLang="en-US" sz="1200">
              <a:solidFill>
                <a:schemeClr val="bg1"/>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3809D8D-4282-18D1-E06F-211380CCAB76}"/>
              </a:ext>
            </a:extLst>
          </p:cNvPr>
          <p:cNvSpPr>
            <a:spLocks noGrp="1"/>
          </p:cNvSpPr>
          <p:nvPr>
            <p:ph type="title"/>
          </p:nvPr>
        </p:nvSpPr>
        <p:spPr>
          <a:xfrm>
            <a:off x="293688" y="322263"/>
            <a:ext cx="10333037" cy="725487"/>
          </a:xfrm>
        </p:spPr>
        <p:txBody>
          <a:bodyPr/>
          <a:lstStyle/>
          <a:p>
            <a:pPr eaLnBrk="1" hangingPunct="1"/>
            <a:r>
              <a:rPr lang="en-IN" altLang="en-US" b="1"/>
              <a:t>Objectives</a:t>
            </a:r>
            <a:endParaRPr lang="en-IN" altLang="en-US"/>
          </a:p>
        </p:txBody>
      </p:sp>
      <p:sp>
        <p:nvSpPr>
          <p:cNvPr id="16387" name="Content Placeholder 2">
            <a:extLst>
              <a:ext uri="{FF2B5EF4-FFF2-40B4-BE49-F238E27FC236}">
                <a16:creationId xmlns:a16="http://schemas.microsoft.com/office/drawing/2014/main" id="{E0C6C452-ADA8-70A6-31A6-4F6B0DE9F901}"/>
              </a:ext>
            </a:extLst>
          </p:cNvPr>
          <p:cNvSpPr>
            <a:spLocks noGrp="1"/>
          </p:cNvSpPr>
          <p:nvPr>
            <p:ph idx="1"/>
          </p:nvPr>
        </p:nvSpPr>
        <p:spPr>
          <a:xfrm>
            <a:off x="293688" y="1304925"/>
            <a:ext cx="11576050" cy="4872038"/>
          </a:xfrm>
        </p:spPr>
        <p:txBody>
          <a:bodyPr/>
          <a:lstStyle/>
          <a:p>
            <a:pPr algn="just" eaLnBrk="1" hangingPunct="1"/>
            <a:r>
              <a:rPr lang="en-US" altLang="en-US" dirty="0"/>
              <a:t>To develop a real-time video interview system that integrates AI and sentiment analysis.</a:t>
            </a:r>
          </a:p>
          <a:p>
            <a:pPr algn="just" eaLnBrk="1" hangingPunct="1"/>
            <a:r>
              <a:rPr lang="en-US" altLang="en-US" dirty="0"/>
              <a:t>To analyze facial expressions, emotions, and tone of voice during interviews.</a:t>
            </a:r>
          </a:p>
          <a:p>
            <a:pPr algn="just" eaLnBrk="1" hangingPunct="1"/>
            <a:r>
              <a:rPr lang="en-US" altLang="en-US" dirty="0"/>
              <a:t>To reduce hiring biases and provide recruiters with data-driven insights.</a:t>
            </a:r>
          </a:p>
          <a:p>
            <a:pPr algn="just" eaLnBrk="1" hangingPunct="1"/>
            <a:r>
              <a:rPr lang="en-US" altLang="en-US" dirty="0"/>
              <a:t>To save time and cost by automating initial candidate evaluation.</a:t>
            </a:r>
          </a:p>
          <a:p>
            <a:pPr algn="just" eaLnBrk="1" hangingPunct="1"/>
            <a:r>
              <a:rPr lang="en-US" altLang="en-US" dirty="0"/>
              <a:t>To enhance user experience with a reliable, secure, and scalable platform.</a:t>
            </a:r>
          </a:p>
          <a:p>
            <a:pPr algn="just" eaLnBrk="1" hangingPunct="1"/>
            <a:endParaRPr lang="en-IN" altLang="en-US" dirty="0"/>
          </a:p>
        </p:txBody>
      </p:sp>
      <p:sp>
        <p:nvSpPr>
          <p:cNvPr id="16388" name="Slide Number Placeholder 3">
            <a:extLst>
              <a:ext uri="{FF2B5EF4-FFF2-40B4-BE49-F238E27FC236}">
                <a16:creationId xmlns:a16="http://schemas.microsoft.com/office/drawing/2014/main" id="{DF96889F-7B4D-F5A2-7A4C-0D2BA9731125}"/>
              </a:ext>
            </a:extLst>
          </p:cNvPr>
          <p:cNvSpPr>
            <a:spLocks noGrp="1" noChangeArrowheads="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14</a:t>
            </a:fld>
            <a:endParaRPr lang="en-IN" altLang="en-US" sz="1200">
              <a:solidFill>
                <a:schemeClr val="bg1"/>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7EECC-25B2-69A4-6DEB-492D471249DE}"/>
              </a:ext>
            </a:extLst>
          </p:cNvPr>
          <p:cNvSpPr>
            <a:spLocks noGrp="1"/>
          </p:cNvSpPr>
          <p:nvPr>
            <p:ph type="title"/>
          </p:nvPr>
        </p:nvSpPr>
        <p:spPr/>
        <p:txBody>
          <a:bodyPr>
            <a:normAutofit/>
          </a:bodyPr>
          <a:lstStyle/>
          <a:p>
            <a:r>
              <a:rPr lang="en-IN" b="1" dirty="0"/>
              <a:t>Architecture</a:t>
            </a:r>
          </a:p>
        </p:txBody>
      </p:sp>
      <p:sp>
        <p:nvSpPr>
          <p:cNvPr id="4" name="Slide Number Placeholder 3">
            <a:extLst>
              <a:ext uri="{FF2B5EF4-FFF2-40B4-BE49-F238E27FC236}">
                <a16:creationId xmlns:a16="http://schemas.microsoft.com/office/drawing/2014/main" id="{7C8DB8D8-1075-6A7E-8225-4D103BFB45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15</a:t>
            </a:fld>
            <a:endParaRPr lang="en-IN"/>
          </a:p>
        </p:txBody>
      </p:sp>
      <p:pic>
        <p:nvPicPr>
          <p:cNvPr id="10" name="Picture 9" descr="A screenshot of a computer&#10;&#10;AI-generated content may be incorrect.">
            <a:extLst>
              <a:ext uri="{FF2B5EF4-FFF2-40B4-BE49-F238E27FC236}">
                <a16:creationId xmlns:a16="http://schemas.microsoft.com/office/drawing/2014/main" id="{47AA3E03-C849-B767-38CD-88EF51C26E52}"/>
              </a:ext>
            </a:extLst>
          </p:cNvPr>
          <p:cNvPicPr>
            <a:picLocks noChangeAspect="1"/>
          </p:cNvPicPr>
          <p:nvPr/>
        </p:nvPicPr>
        <p:blipFill>
          <a:blip r:embed="rId3"/>
          <a:stretch>
            <a:fillRect/>
          </a:stretch>
        </p:blipFill>
        <p:spPr>
          <a:xfrm>
            <a:off x="777382" y="1879600"/>
            <a:ext cx="10246004" cy="3098800"/>
          </a:xfrm>
          <a:prstGeom prst="rect">
            <a:avLst/>
          </a:prstGeom>
        </p:spPr>
      </p:pic>
    </p:spTree>
    <p:extLst>
      <p:ext uri="{BB962C8B-B14F-4D97-AF65-F5344CB8AC3E}">
        <p14:creationId xmlns:p14="http://schemas.microsoft.com/office/powerpoint/2010/main" val="1245666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AB6F9D4-613E-BCAC-EC86-7FC1BBFCD744}"/>
              </a:ext>
            </a:extLst>
          </p:cNvPr>
          <p:cNvSpPr>
            <a:spLocks noGrp="1"/>
          </p:cNvSpPr>
          <p:nvPr>
            <p:ph type="title"/>
          </p:nvPr>
        </p:nvSpPr>
        <p:spPr>
          <a:xfrm>
            <a:off x="293688" y="322263"/>
            <a:ext cx="10333037" cy="725487"/>
          </a:xfrm>
        </p:spPr>
        <p:txBody>
          <a:bodyPr/>
          <a:lstStyle/>
          <a:p>
            <a:pPr eaLnBrk="1" hangingPunct="1"/>
            <a:r>
              <a:rPr lang="en-IN" altLang="en-US" b="1"/>
              <a:t>Software and Hardware Requirements</a:t>
            </a:r>
            <a:endParaRPr lang="en-IN" altLang="en-US"/>
          </a:p>
        </p:txBody>
      </p:sp>
      <p:sp>
        <p:nvSpPr>
          <p:cNvPr id="3" name="Content Placeholder 2">
            <a:extLst>
              <a:ext uri="{FF2B5EF4-FFF2-40B4-BE49-F238E27FC236}">
                <a16:creationId xmlns:a16="http://schemas.microsoft.com/office/drawing/2014/main" id="{4F86D68A-F4B6-8765-03DE-714A216261D0}"/>
              </a:ext>
            </a:extLst>
          </p:cNvPr>
          <p:cNvSpPr>
            <a:spLocks noGrp="1"/>
          </p:cNvSpPr>
          <p:nvPr>
            <p:ph idx="1"/>
          </p:nvPr>
        </p:nvSpPr>
        <p:spPr>
          <a:xfrm>
            <a:off x="293688" y="1125501"/>
            <a:ext cx="11518356" cy="5158506"/>
          </a:xfrm>
        </p:spPr>
        <p:txBody>
          <a:bodyPr>
            <a:noAutofit/>
          </a:bodyPr>
          <a:lstStyle/>
          <a:p>
            <a:pPr eaLnBrk="1" hangingPunct="1">
              <a:defRPr/>
            </a:pPr>
            <a:r>
              <a:rPr lang="en-IN" sz="1800" b="1" dirty="0"/>
              <a:t>Software Requirements:</a:t>
            </a:r>
            <a:endParaRPr lang="en-IN" sz="1800" dirty="0"/>
          </a:p>
          <a:p>
            <a:pPr eaLnBrk="1" hangingPunct="1">
              <a:defRPr/>
            </a:pPr>
            <a:r>
              <a:rPr lang="en-IN" sz="1800" dirty="0"/>
              <a:t>Programming Languages: Python, JavaScript</a:t>
            </a:r>
          </a:p>
          <a:p>
            <a:pPr eaLnBrk="1" hangingPunct="1">
              <a:defRPr/>
            </a:pPr>
            <a:r>
              <a:rPr lang="en-IN" sz="1800" dirty="0"/>
              <a:t>Frameworks: </a:t>
            </a:r>
            <a:r>
              <a:rPr lang="en-IN" sz="1800" dirty="0" err="1"/>
              <a:t>TensorFlow</a:t>
            </a:r>
            <a:r>
              <a:rPr lang="en-IN" sz="1800" dirty="0"/>
              <a:t> / </a:t>
            </a:r>
            <a:r>
              <a:rPr lang="en-IN" sz="1800" dirty="0" err="1"/>
              <a:t>PyTorch</a:t>
            </a:r>
            <a:r>
              <a:rPr lang="en-IN" sz="1800" dirty="0"/>
              <a:t> (for AI models), </a:t>
            </a:r>
            <a:r>
              <a:rPr lang="en-IN" sz="1800" dirty="0" err="1"/>
              <a:t>OpenCV</a:t>
            </a:r>
            <a:r>
              <a:rPr lang="en-IN" sz="1800" dirty="0"/>
              <a:t> (for facial analysis), Flask (backend), </a:t>
            </a:r>
            <a:r>
              <a:rPr lang="en-IN" sz="1800" dirty="0" err="1"/>
              <a:t>ReactJS</a:t>
            </a:r>
            <a:r>
              <a:rPr lang="en-IN" sz="1800" dirty="0"/>
              <a:t>/Angular (frontend)</a:t>
            </a:r>
          </a:p>
          <a:p>
            <a:pPr eaLnBrk="1" hangingPunct="1">
              <a:defRPr/>
            </a:pPr>
            <a:r>
              <a:rPr lang="en-IN" sz="1800" dirty="0"/>
              <a:t>Databases: My SQL</a:t>
            </a:r>
          </a:p>
          <a:p>
            <a:pPr eaLnBrk="1" hangingPunct="1">
              <a:defRPr/>
            </a:pPr>
            <a:r>
              <a:rPr lang="en-IN" sz="1800" dirty="0"/>
              <a:t>APIs: Google Vision API, Speech-to-Text APIs, Sentiment Analysis Libraries (NLTK/</a:t>
            </a:r>
            <a:r>
              <a:rPr lang="en-IN" sz="1800" dirty="0" err="1"/>
              <a:t>TextBlob</a:t>
            </a:r>
            <a:r>
              <a:rPr lang="en-IN" sz="1800" dirty="0"/>
              <a:t>)</a:t>
            </a:r>
          </a:p>
          <a:p>
            <a:pPr eaLnBrk="1" hangingPunct="1">
              <a:defRPr/>
            </a:pPr>
            <a:r>
              <a:rPr lang="en-IN" sz="1800" dirty="0"/>
              <a:t>Operating System: Windows</a:t>
            </a:r>
          </a:p>
          <a:p>
            <a:pPr eaLnBrk="1" hangingPunct="1">
              <a:defRPr/>
            </a:pPr>
            <a:r>
              <a:rPr lang="en-IN" sz="1800" dirty="0"/>
              <a:t>IDE: Visual Studio Code</a:t>
            </a:r>
          </a:p>
          <a:p>
            <a:pPr eaLnBrk="1" hangingPunct="1">
              <a:defRPr/>
            </a:pPr>
            <a:r>
              <a:rPr lang="en-IN" sz="1800" b="1" dirty="0"/>
              <a:t>Hardware Requirements:</a:t>
            </a:r>
            <a:endParaRPr lang="en-IN" sz="1800" dirty="0"/>
          </a:p>
          <a:p>
            <a:pPr eaLnBrk="1" hangingPunct="1">
              <a:defRPr/>
            </a:pPr>
            <a:r>
              <a:rPr lang="en-IN" sz="1800" dirty="0"/>
              <a:t>Processor: Intel i5 core 5</a:t>
            </a:r>
          </a:p>
          <a:p>
            <a:pPr eaLnBrk="1" hangingPunct="1">
              <a:defRPr/>
            </a:pPr>
            <a:r>
              <a:rPr lang="en-IN" sz="1800" dirty="0"/>
              <a:t>RAM: Minimum 8 GB (16 GB recommended)</a:t>
            </a:r>
          </a:p>
          <a:p>
            <a:pPr eaLnBrk="1" hangingPunct="1">
              <a:defRPr/>
            </a:pPr>
            <a:r>
              <a:rPr lang="en-IN" sz="1800" dirty="0"/>
              <a:t>Hard Disk: Minimum 500 GB</a:t>
            </a:r>
          </a:p>
          <a:p>
            <a:pPr eaLnBrk="1" hangingPunct="1">
              <a:defRPr/>
            </a:pPr>
            <a:r>
              <a:rPr lang="en-IN" sz="1800" dirty="0"/>
              <a:t>Webcam: HD Camera with microphone</a:t>
            </a:r>
          </a:p>
          <a:p>
            <a:pPr eaLnBrk="1" hangingPunct="1">
              <a:defRPr/>
            </a:pPr>
            <a:r>
              <a:rPr lang="en-IN" sz="1800" dirty="0"/>
              <a:t>Internet: Stable broadband connection</a:t>
            </a:r>
          </a:p>
          <a:p>
            <a:pPr eaLnBrk="1" hangingPunct="1">
              <a:defRPr/>
            </a:pPr>
            <a:endParaRPr lang="en-IN" altLang="en-US" sz="1800" dirty="0"/>
          </a:p>
        </p:txBody>
      </p:sp>
      <p:sp>
        <p:nvSpPr>
          <p:cNvPr id="17412" name="Slide Number Placeholder 3">
            <a:extLst>
              <a:ext uri="{FF2B5EF4-FFF2-40B4-BE49-F238E27FC236}">
                <a16:creationId xmlns:a16="http://schemas.microsoft.com/office/drawing/2014/main" id="{B6F5D5AA-83F2-FF35-ABC3-36CFCC11878F}"/>
              </a:ext>
            </a:extLst>
          </p:cNvPr>
          <p:cNvSpPr>
            <a:spLocks noGrp="1" noChangeArrowheads="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16</a:t>
            </a:fld>
            <a:endParaRPr lang="en-IN" altLang="en-US" sz="1200">
              <a:solidFill>
                <a:schemeClr val="bg1"/>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3A46-9B5B-DEB5-BBBA-68088D74E504}"/>
              </a:ext>
            </a:extLst>
          </p:cNvPr>
          <p:cNvSpPr>
            <a:spLocks noGrp="1"/>
          </p:cNvSpPr>
          <p:nvPr>
            <p:ph type="title"/>
          </p:nvPr>
        </p:nvSpPr>
        <p:spPr/>
        <p:txBody>
          <a:bodyPr>
            <a:normAutofit/>
          </a:bodyPr>
          <a:lstStyle/>
          <a:p>
            <a:r>
              <a:rPr lang="en-IN" b="1" dirty="0"/>
              <a:t>Modules</a:t>
            </a:r>
          </a:p>
        </p:txBody>
      </p:sp>
      <p:sp>
        <p:nvSpPr>
          <p:cNvPr id="3" name="Text Placeholder 2">
            <a:extLst>
              <a:ext uri="{FF2B5EF4-FFF2-40B4-BE49-F238E27FC236}">
                <a16:creationId xmlns:a16="http://schemas.microsoft.com/office/drawing/2014/main" id="{9AC2E7BC-62CF-5FEE-0FB2-6074867D15DA}"/>
              </a:ext>
            </a:extLst>
          </p:cNvPr>
          <p:cNvSpPr>
            <a:spLocks noGrp="1"/>
          </p:cNvSpPr>
          <p:nvPr>
            <p:ph type="body" idx="1"/>
          </p:nvPr>
        </p:nvSpPr>
        <p:spPr/>
        <p:txBody>
          <a:bodyPr/>
          <a:lstStyle/>
          <a:p>
            <a:r>
              <a:rPr lang="en-US" dirty="0" err="1"/>
              <a:t>FaceSense</a:t>
            </a:r>
            <a:r>
              <a:rPr lang="en-US" dirty="0"/>
              <a:t> AI is structured into several interconnected modules that manage authentication, AI-based processing, and performance analysis.</a:t>
            </a:r>
            <a:br>
              <a:rPr lang="en-US" dirty="0"/>
            </a:br>
            <a:r>
              <a:rPr lang="en-US" dirty="0"/>
              <a:t>Each module handles a specific task to ensure modularity, scalability, and accuracy in real-time interview evaluation.</a:t>
            </a:r>
          </a:p>
          <a:p>
            <a:r>
              <a:rPr lang="en-US" b="1" dirty="0"/>
              <a:t>Main Functional Modules:</a:t>
            </a:r>
            <a:endParaRPr lang="en-US" dirty="0"/>
          </a:p>
          <a:p>
            <a:r>
              <a:rPr lang="en-US" b="1" dirty="0"/>
              <a:t>Authentication &amp; User Management :</a:t>
            </a:r>
            <a:r>
              <a:rPr lang="en-US" dirty="0"/>
              <a:t> Secure login/signup with JWT and encrypted passwords stored in SQLite.</a:t>
            </a:r>
          </a:p>
          <a:p>
            <a:r>
              <a:rPr lang="en-US" b="1" dirty="0"/>
              <a:t>Question Generation :</a:t>
            </a:r>
            <a:r>
              <a:rPr lang="en-US" dirty="0"/>
              <a:t> Uses Hugging Face LLM to create dynamic and topic-based interview questions.</a:t>
            </a:r>
          </a:p>
          <a:p>
            <a:r>
              <a:rPr lang="en-US" b="1" dirty="0"/>
              <a:t>Audio &amp; Speech Processing :</a:t>
            </a:r>
            <a:r>
              <a:rPr lang="en-US" dirty="0"/>
              <a:t> Captures voice input and converts it to text using Whisper for accurate transcription.</a:t>
            </a:r>
          </a:p>
          <a:p>
            <a:pPr marL="533400" indent="-457200">
              <a:buAutoNum type="arabicPeriod"/>
            </a:pPr>
            <a:endParaRPr lang="en-IN" dirty="0"/>
          </a:p>
        </p:txBody>
      </p:sp>
      <p:sp>
        <p:nvSpPr>
          <p:cNvPr id="4" name="Slide Number Placeholder 3">
            <a:extLst>
              <a:ext uri="{FF2B5EF4-FFF2-40B4-BE49-F238E27FC236}">
                <a16:creationId xmlns:a16="http://schemas.microsoft.com/office/drawing/2014/main" id="{1DA3A1DB-ED0F-DA85-1957-47C2B6BEAC8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17</a:t>
            </a:fld>
            <a:endParaRPr lang="en-IN"/>
          </a:p>
        </p:txBody>
      </p:sp>
    </p:spTree>
    <p:extLst>
      <p:ext uri="{BB962C8B-B14F-4D97-AF65-F5344CB8AC3E}">
        <p14:creationId xmlns:p14="http://schemas.microsoft.com/office/powerpoint/2010/main" val="3674686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0B1CB-EB62-5AEB-4EF1-4442AAC70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C9087-1678-B662-FB17-1927EFB1E031}"/>
              </a:ext>
            </a:extLst>
          </p:cNvPr>
          <p:cNvSpPr>
            <a:spLocks noGrp="1"/>
          </p:cNvSpPr>
          <p:nvPr>
            <p:ph type="title"/>
          </p:nvPr>
        </p:nvSpPr>
        <p:spPr/>
        <p:txBody>
          <a:bodyPr>
            <a:normAutofit/>
          </a:bodyPr>
          <a:lstStyle/>
          <a:p>
            <a:r>
              <a:rPr lang="en-IN" b="1" dirty="0"/>
              <a:t>Modules(</a:t>
            </a:r>
            <a:r>
              <a:rPr lang="en-IN" b="1" dirty="0" err="1"/>
              <a:t>contd</a:t>
            </a:r>
            <a:r>
              <a:rPr lang="en-IN" b="1" dirty="0"/>
              <a:t>…)</a:t>
            </a:r>
          </a:p>
        </p:txBody>
      </p:sp>
      <p:sp>
        <p:nvSpPr>
          <p:cNvPr id="3" name="Text Placeholder 2">
            <a:extLst>
              <a:ext uri="{FF2B5EF4-FFF2-40B4-BE49-F238E27FC236}">
                <a16:creationId xmlns:a16="http://schemas.microsoft.com/office/drawing/2014/main" id="{47164FBC-EC23-18AB-CE40-DA1BA92CA683}"/>
              </a:ext>
            </a:extLst>
          </p:cNvPr>
          <p:cNvSpPr>
            <a:spLocks noGrp="1"/>
          </p:cNvSpPr>
          <p:nvPr>
            <p:ph type="body" idx="1"/>
          </p:nvPr>
        </p:nvSpPr>
        <p:spPr/>
        <p:txBody>
          <a:bodyPr/>
          <a:lstStyle/>
          <a:p>
            <a:pPr marL="533400" indent="-457200">
              <a:buAutoNum type="arabicPeriod"/>
            </a:pPr>
            <a:r>
              <a:rPr lang="en-US" b="1" dirty="0"/>
              <a:t>Sentiment Analysis :</a:t>
            </a:r>
            <a:r>
              <a:rPr lang="en-US" dirty="0"/>
              <a:t> Evaluates tone and confidence from transcribed speech using Hugging Face sentiment pipeline.</a:t>
            </a:r>
          </a:p>
          <a:p>
            <a:pPr marL="533400" indent="-457200">
              <a:buAutoNum type="arabicPeriod"/>
            </a:pPr>
            <a:r>
              <a:rPr lang="en-US" b="1" dirty="0"/>
              <a:t>Emotion Detection :</a:t>
            </a:r>
            <a:r>
              <a:rPr lang="en-US" dirty="0"/>
              <a:t> Uses </a:t>
            </a:r>
            <a:r>
              <a:rPr lang="en-US" dirty="0" err="1"/>
              <a:t>DeepFace</a:t>
            </a:r>
            <a:r>
              <a:rPr lang="en-US" dirty="0"/>
              <a:t> to analyze real-time facial emotions such as happy, neutral, or sad.</a:t>
            </a:r>
          </a:p>
          <a:p>
            <a:pPr marL="533400" indent="-457200">
              <a:buAutoNum type="arabicPeriod"/>
            </a:pPr>
            <a:r>
              <a:rPr lang="en-US" b="1" dirty="0"/>
              <a:t>Real-Time Feedback :</a:t>
            </a:r>
            <a:r>
              <a:rPr lang="en-US" dirty="0"/>
              <a:t> Combines sentiment + emotion data to display live confidence and engagement insights.</a:t>
            </a:r>
          </a:p>
          <a:p>
            <a:pPr marL="533400" indent="-457200">
              <a:buAutoNum type="arabicPeriod"/>
            </a:pPr>
            <a:r>
              <a:rPr lang="en-US" b="1" dirty="0"/>
              <a:t>Report Generation :</a:t>
            </a:r>
            <a:r>
              <a:rPr lang="en-US" dirty="0"/>
              <a:t> Creates downloadable PDF reports summarizing overall performance, sentiment trends, and emotional responses.</a:t>
            </a:r>
            <a:endParaRPr lang="en-IN" dirty="0"/>
          </a:p>
        </p:txBody>
      </p:sp>
      <p:sp>
        <p:nvSpPr>
          <p:cNvPr id="4" name="Slide Number Placeholder 3">
            <a:extLst>
              <a:ext uri="{FF2B5EF4-FFF2-40B4-BE49-F238E27FC236}">
                <a16:creationId xmlns:a16="http://schemas.microsoft.com/office/drawing/2014/main" id="{C0AA562D-AB54-FAEE-5F52-F49AA2B5F87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18</a:t>
            </a:fld>
            <a:endParaRPr lang="en-IN"/>
          </a:p>
        </p:txBody>
      </p:sp>
    </p:spTree>
    <p:extLst>
      <p:ext uri="{BB962C8B-B14F-4D97-AF65-F5344CB8AC3E}">
        <p14:creationId xmlns:p14="http://schemas.microsoft.com/office/powerpoint/2010/main" val="2952429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B988-3954-BD93-8D27-374AD3DAC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B52F7-E16E-1DCE-4B88-15327F5F34DA}"/>
              </a:ext>
            </a:extLst>
          </p:cNvPr>
          <p:cNvSpPr>
            <a:spLocks noGrp="1"/>
          </p:cNvSpPr>
          <p:nvPr>
            <p:ph type="title"/>
          </p:nvPr>
        </p:nvSpPr>
        <p:spPr/>
        <p:txBody>
          <a:bodyPr>
            <a:normAutofit/>
          </a:bodyPr>
          <a:lstStyle/>
          <a:p>
            <a:r>
              <a:rPr lang="en-IN" b="1" dirty="0"/>
              <a:t>Modules(</a:t>
            </a:r>
            <a:r>
              <a:rPr lang="en-IN" b="1" dirty="0" err="1"/>
              <a:t>contd</a:t>
            </a:r>
            <a:r>
              <a:rPr lang="en-IN" b="1" dirty="0"/>
              <a:t>…)</a:t>
            </a:r>
          </a:p>
        </p:txBody>
      </p:sp>
      <p:sp>
        <p:nvSpPr>
          <p:cNvPr id="3" name="Text Placeholder 2">
            <a:extLst>
              <a:ext uri="{FF2B5EF4-FFF2-40B4-BE49-F238E27FC236}">
                <a16:creationId xmlns:a16="http://schemas.microsoft.com/office/drawing/2014/main" id="{64A1AD19-D683-17C1-B4BB-BF48CEA9C006}"/>
              </a:ext>
            </a:extLst>
          </p:cNvPr>
          <p:cNvSpPr>
            <a:spLocks noGrp="1"/>
          </p:cNvSpPr>
          <p:nvPr>
            <p:ph type="body" idx="1"/>
          </p:nvPr>
        </p:nvSpPr>
        <p:spPr/>
        <p:txBody>
          <a:bodyPr/>
          <a:lstStyle/>
          <a:p>
            <a:pPr marL="533400" indent="-457200">
              <a:buAutoNum type="arabicPeriod"/>
            </a:pPr>
            <a:r>
              <a:rPr lang="en-US" b="1" dirty="0"/>
              <a:t>Frontend UI :</a:t>
            </a:r>
            <a:r>
              <a:rPr lang="en-US" dirty="0"/>
              <a:t> Built with React + Tailwind CSS for responsive design; includes login, live interview, and report dashboards.</a:t>
            </a:r>
          </a:p>
          <a:p>
            <a:pPr marL="533400" indent="-457200">
              <a:buAutoNum type="arabicPeriod"/>
            </a:pPr>
            <a:r>
              <a:rPr lang="en-US" b="1" dirty="0"/>
              <a:t>Logging &amp; Monitoring :</a:t>
            </a:r>
            <a:r>
              <a:rPr lang="en-US" dirty="0"/>
              <a:t> Tracks session data, API activity, and performance logs for continuous optimization.</a:t>
            </a:r>
            <a:endParaRPr lang="en-IN" dirty="0"/>
          </a:p>
        </p:txBody>
      </p:sp>
      <p:sp>
        <p:nvSpPr>
          <p:cNvPr id="4" name="Slide Number Placeholder 3">
            <a:extLst>
              <a:ext uri="{FF2B5EF4-FFF2-40B4-BE49-F238E27FC236}">
                <a16:creationId xmlns:a16="http://schemas.microsoft.com/office/drawing/2014/main" id="{9DB7D051-2791-CBF0-866A-24820E4DC57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19</a:t>
            </a:fld>
            <a:endParaRPr lang="en-IN"/>
          </a:p>
        </p:txBody>
      </p:sp>
    </p:spTree>
    <p:extLst>
      <p:ext uri="{BB962C8B-B14F-4D97-AF65-F5344CB8AC3E}">
        <p14:creationId xmlns:p14="http://schemas.microsoft.com/office/powerpoint/2010/main" val="1620166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518A-C451-82D1-13B6-D3E895033625}"/>
              </a:ext>
            </a:extLst>
          </p:cNvPr>
          <p:cNvSpPr>
            <a:spLocks noGrp="1"/>
          </p:cNvSpPr>
          <p:nvPr>
            <p:ph type="title"/>
          </p:nvPr>
        </p:nvSpPr>
        <p:spPr/>
        <p:txBody>
          <a:bodyPr/>
          <a:lstStyle/>
          <a:p>
            <a:r>
              <a:rPr lang="en-US" altLang="en-IN" b="1" dirty="0"/>
              <a:t>Design Diagrams</a:t>
            </a:r>
            <a:endParaRPr lang="en-IN" b="1" dirty="0"/>
          </a:p>
        </p:txBody>
      </p:sp>
      <p:sp>
        <p:nvSpPr>
          <p:cNvPr id="4" name="Slide Number Placeholder 3">
            <a:extLst>
              <a:ext uri="{FF2B5EF4-FFF2-40B4-BE49-F238E27FC236}">
                <a16:creationId xmlns:a16="http://schemas.microsoft.com/office/drawing/2014/main" id="{47725F9B-AB74-CF81-D6C5-2D56CAA86A5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20</a:t>
            </a:fld>
            <a:endParaRPr lang="en-IN"/>
          </a:p>
        </p:txBody>
      </p:sp>
      <p:sp>
        <p:nvSpPr>
          <p:cNvPr id="10" name="TextBox 9">
            <a:extLst>
              <a:ext uri="{FF2B5EF4-FFF2-40B4-BE49-F238E27FC236}">
                <a16:creationId xmlns:a16="http://schemas.microsoft.com/office/drawing/2014/main" id="{61F91E1A-28EA-4320-2BF3-837EE4A192D7}"/>
              </a:ext>
            </a:extLst>
          </p:cNvPr>
          <p:cNvSpPr txBox="1"/>
          <p:nvPr/>
        </p:nvSpPr>
        <p:spPr>
          <a:xfrm>
            <a:off x="518583" y="1141512"/>
            <a:ext cx="6100232" cy="461665"/>
          </a:xfrm>
          <a:prstGeom prst="rect">
            <a:avLst/>
          </a:prstGeom>
          <a:noFill/>
        </p:spPr>
        <p:txBody>
          <a:bodyPr wrap="square">
            <a:spAutoFit/>
          </a:bodyPr>
          <a:lstStyle/>
          <a:p>
            <a:r>
              <a:rPr lang="en-IN" sz="2400" b="1" dirty="0">
                <a:solidFill>
                  <a:srgbClr val="002060"/>
                </a:solidFill>
                <a:cs typeface="Times New Roman" panose="02020603050405020304" pitchFamily="18" charset="0"/>
              </a:rPr>
              <a:t>Use case Diagram </a:t>
            </a:r>
          </a:p>
        </p:txBody>
      </p:sp>
      <p:pic>
        <p:nvPicPr>
          <p:cNvPr id="14" name="Picture 13" descr="A screenshot of a computer screen&#10;&#10;AI-generated content may be incorrect.">
            <a:extLst>
              <a:ext uri="{FF2B5EF4-FFF2-40B4-BE49-F238E27FC236}">
                <a16:creationId xmlns:a16="http://schemas.microsoft.com/office/drawing/2014/main" id="{5E8EB5F9-B7A9-C626-186C-CF8AD9010F6F}"/>
              </a:ext>
            </a:extLst>
          </p:cNvPr>
          <p:cNvPicPr>
            <a:picLocks noChangeAspect="1"/>
          </p:cNvPicPr>
          <p:nvPr/>
        </p:nvPicPr>
        <p:blipFill>
          <a:blip r:embed="rId3"/>
          <a:stretch>
            <a:fillRect/>
          </a:stretch>
        </p:blipFill>
        <p:spPr>
          <a:xfrm>
            <a:off x="3632729" y="1931987"/>
            <a:ext cx="3928005" cy="3538640"/>
          </a:xfrm>
          <a:prstGeom prst="rect">
            <a:avLst/>
          </a:prstGeom>
        </p:spPr>
      </p:pic>
    </p:spTree>
    <p:extLst>
      <p:ext uri="{BB962C8B-B14F-4D97-AF65-F5344CB8AC3E}">
        <p14:creationId xmlns:p14="http://schemas.microsoft.com/office/powerpoint/2010/main" val="270646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3629-8FA3-04EF-B74F-31568DA33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6A5FA-6A3E-7C49-DF72-70052D39EB58}"/>
              </a:ext>
            </a:extLst>
          </p:cNvPr>
          <p:cNvSpPr>
            <a:spLocks noGrp="1"/>
          </p:cNvSpPr>
          <p:nvPr>
            <p:ph type="title"/>
          </p:nvPr>
        </p:nvSpPr>
        <p:spPr/>
        <p:txBody>
          <a:bodyPr/>
          <a:lstStyle/>
          <a:p>
            <a:r>
              <a:rPr lang="en-IN" b="1" dirty="0"/>
              <a:t>Activity Diagram</a:t>
            </a:r>
          </a:p>
        </p:txBody>
      </p:sp>
      <p:sp>
        <p:nvSpPr>
          <p:cNvPr id="4" name="Slide Number Placeholder 3">
            <a:extLst>
              <a:ext uri="{FF2B5EF4-FFF2-40B4-BE49-F238E27FC236}">
                <a16:creationId xmlns:a16="http://schemas.microsoft.com/office/drawing/2014/main" id="{38E71FFD-7F1D-96A7-7105-C5565361CB9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21</a:t>
            </a:fld>
            <a:endParaRPr lang="en-IN"/>
          </a:p>
        </p:txBody>
      </p:sp>
      <p:pic>
        <p:nvPicPr>
          <p:cNvPr id="6" name="Picture 5" descr="A screenshot of a phone&#10;&#10;AI-generated content may be incorrect.">
            <a:extLst>
              <a:ext uri="{FF2B5EF4-FFF2-40B4-BE49-F238E27FC236}">
                <a16:creationId xmlns:a16="http://schemas.microsoft.com/office/drawing/2014/main" id="{5AAA1806-3518-6771-1BA5-BD2867F7DE08}"/>
              </a:ext>
            </a:extLst>
          </p:cNvPr>
          <p:cNvPicPr>
            <a:picLocks noChangeAspect="1"/>
          </p:cNvPicPr>
          <p:nvPr/>
        </p:nvPicPr>
        <p:blipFill>
          <a:blip r:embed="rId3"/>
          <a:stretch>
            <a:fillRect/>
          </a:stretch>
        </p:blipFill>
        <p:spPr>
          <a:xfrm>
            <a:off x="4605867" y="931333"/>
            <a:ext cx="2017745" cy="5029200"/>
          </a:xfrm>
          <a:prstGeom prst="rect">
            <a:avLst/>
          </a:prstGeom>
        </p:spPr>
      </p:pic>
    </p:spTree>
    <p:extLst>
      <p:ext uri="{BB962C8B-B14F-4D97-AF65-F5344CB8AC3E}">
        <p14:creationId xmlns:p14="http://schemas.microsoft.com/office/powerpoint/2010/main" val="676440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38DF-3A3A-ED78-8137-751806684446}"/>
              </a:ext>
            </a:extLst>
          </p:cNvPr>
          <p:cNvSpPr>
            <a:spLocks noGrp="1"/>
          </p:cNvSpPr>
          <p:nvPr>
            <p:ph type="title"/>
          </p:nvPr>
        </p:nvSpPr>
        <p:spPr/>
        <p:txBody>
          <a:bodyPr/>
          <a:lstStyle/>
          <a:p>
            <a:r>
              <a:rPr lang="en-IN" b="1" dirty="0"/>
              <a:t>Class Diagram</a:t>
            </a:r>
          </a:p>
        </p:txBody>
      </p:sp>
      <p:sp>
        <p:nvSpPr>
          <p:cNvPr id="4" name="Slide Number Placeholder 3">
            <a:extLst>
              <a:ext uri="{FF2B5EF4-FFF2-40B4-BE49-F238E27FC236}">
                <a16:creationId xmlns:a16="http://schemas.microsoft.com/office/drawing/2014/main" id="{F2C859A1-2E97-8255-A4CE-75B8FDBD411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22</a:t>
            </a:fld>
            <a:endParaRPr lang="en-IN"/>
          </a:p>
        </p:txBody>
      </p:sp>
      <p:pic>
        <p:nvPicPr>
          <p:cNvPr id="8" name="Picture 7" descr="A black background with white text&#10;&#10;AI-generated content may be incorrect.">
            <a:extLst>
              <a:ext uri="{FF2B5EF4-FFF2-40B4-BE49-F238E27FC236}">
                <a16:creationId xmlns:a16="http://schemas.microsoft.com/office/drawing/2014/main" id="{C4CE20AF-BE25-6413-E592-9E38A1865446}"/>
              </a:ext>
            </a:extLst>
          </p:cNvPr>
          <p:cNvPicPr>
            <a:picLocks noChangeAspect="1"/>
          </p:cNvPicPr>
          <p:nvPr/>
        </p:nvPicPr>
        <p:blipFill>
          <a:blip r:embed="rId3"/>
          <a:stretch>
            <a:fillRect/>
          </a:stretch>
        </p:blipFill>
        <p:spPr>
          <a:xfrm>
            <a:off x="3529194" y="1143000"/>
            <a:ext cx="5133612" cy="4868333"/>
          </a:xfrm>
          <a:prstGeom prst="rect">
            <a:avLst/>
          </a:prstGeom>
        </p:spPr>
      </p:pic>
    </p:spTree>
    <p:extLst>
      <p:ext uri="{BB962C8B-B14F-4D97-AF65-F5344CB8AC3E}">
        <p14:creationId xmlns:p14="http://schemas.microsoft.com/office/powerpoint/2010/main" val="1869243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37F3-E1BA-C42B-EE0D-ADD684F29D5E}"/>
              </a:ext>
            </a:extLst>
          </p:cNvPr>
          <p:cNvSpPr>
            <a:spLocks noGrp="1"/>
          </p:cNvSpPr>
          <p:nvPr>
            <p:ph type="title"/>
          </p:nvPr>
        </p:nvSpPr>
        <p:spPr/>
        <p:txBody>
          <a:bodyPr>
            <a:normAutofit fontScale="90000"/>
          </a:bodyPr>
          <a:lstStyle/>
          <a:p>
            <a:r>
              <a:rPr lang="en-IN" sz="4800" b="1" dirty="0">
                <a:cs typeface="Times New Roman" panose="02020603050405020304" pitchFamily="18" charset="0"/>
              </a:rPr>
              <a:t>Sequence Diagram</a:t>
            </a:r>
            <a:endParaRPr lang="en-IN" b="1" dirty="0"/>
          </a:p>
        </p:txBody>
      </p:sp>
      <p:sp>
        <p:nvSpPr>
          <p:cNvPr id="4" name="Slide Number Placeholder 3">
            <a:extLst>
              <a:ext uri="{FF2B5EF4-FFF2-40B4-BE49-F238E27FC236}">
                <a16:creationId xmlns:a16="http://schemas.microsoft.com/office/drawing/2014/main" id="{36DBA30F-9512-2010-5369-1F77BB6586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23</a:t>
            </a:fld>
            <a:endParaRPr lang="en-IN"/>
          </a:p>
        </p:txBody>
      </p:sp>
      <p:pic>
        <p:nvPicPr>
          <p:cNvPr id="7" name="Picture 6" descr="A black screen with white text&#10;&#10;AI-generated content may be incorrect.">
            <a:extLst>
              <a:ext uri="{FF2B5EF4-FFF2-40B4-BE49-F238E27FC236}">
                <a16:creationId xmlns:a16="http://schemas.microsoft.com/office/drawing/2014/main" id="{B74D8A73-B488-A989-67C7-0167C6F3BBBD}"/>
              </a:ext>
            </a:extLst>
          </p:cNvPr>
          <p:cNvPicPr>
            <a:picLocks noChangeAspect="1"/>
          </p:cNvPicPr>
          <p:nvPr/>
        </p:nvPicPr>
        <p:blipFill>
          <a:blip r:embed="rId3"/>
          <a:stretch>
            <a:fillRect/>
          </a:stretch>
        </p:blipFill>
        <p:spPr>
          <a:xfrm>
            <a:off x="351121" y="1657584"/>
            <a:ext cx="11518323" cy="2823684"/>
          </a:xfrm>
          <a:prstGeom prst="rect">
            <a:avLst/>
          </a:prstGeom>
        </p:spPr>
      </p:pic>
    </p:spTree>
    <p:extLst>
      <p:ext uri="{BB962C8B-B14F-4D97-AF65-F5344CB8AC3E}">
        <p14:creationId xmlns:p14="http://schemas.microsoft.com/office/powerpoint/2010/main" val="2707217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4B183-1E25-B675-0328-E0512D633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1CCC9B-CE44-6E22-AE1E-8F1A0CC228A9}"/>
              </a:ext>
            </a:extLst>
          </p:cNvPr>
          <p:cNvSpPr>
            <a:spLocks noGrp="1"/>
          </p:cNvSpPr>
          <p:nvPr>
            <p:ph type="title"/>
          </p:nvPr>
        </p:nvSpPr>
        <p:spPr/>
        <p:txBody>
          <a:bodyPr/>
          <a:lstStyle/>
          <a:p>
            <a:r>
              <a:rPr lang="en-IN" b="1" dirty="0"/>
              <a:t>Collaboration Diagram</a:t>
            </a:r>
          </a:p>
        </p:txBody>
      </p:sp>
      <p:sp>
        <p:nvSpPr>
          <p:cNvPr id="4" name="Slide Number Placeholder 3">
            <a:extLst>
              <a:ext uri="{FF2B5EF4-FFF2-40B4-BE49-F238E27FC236}">
                <a16:creationId xmlns:a16="http://schemas.microsoft.com/office/drawing/2014/main" id="{38C25920-D067-259E-6699-8940B9AB72E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24</a:t>
            </a:fld>
            <a:endParaRPr lang="en-IN"/>
          </a:p>
        </p:txBody>
      </p:sp>
      <p:pic>
        <p:nvPicPr>
          <p:cNvPr id="5" name="Picture 4" descr="A diagram of a computer&#10;&#10;AI-generated content may be incorrect.">
            <a:extLst>
              <a:ext uri="{FF2B5EF4-FFF2-40B4-BE49-F238E27FC236}">
                <a16:creationId xmlns:a16="http://schemas.microsoft.com/office/drawing/2014/main" id="{7943B6AA-2249-17E7-BC61-853764485042}"/>
              </a:ext>
            </a:extLst>
          </p:cNvPr>
          <p:cNvPicPr>
            <a:picLocks noChangeAspect="1"/>
          </p:cNvPicPr>
          <p:nvPr/>
        </p:nvPicPr>
        <p:blipFill>
          <a:blip r:embed="rId3"/>
          <a:stretch>
            <a:fillRect/>
          </a:stretch>
        </p:blipFill>
        <p:spPr>
          <a:xfrm>
            <a:off x="4424362" y="1262062"/>
            <a:ext cx="3343275" cy="4333875"/>
          </a:xfrm>
          <a:prstGeom prst="rect">
            <a:avLst/>
          </a:prstGeom>
        </p:spPr>
      </p:pic>
    </p:spTree>
    <p:extLst>
      <p:ext uri="{BB962C8B-B14F-4D97-AF65-F5344CB8AC3E}">
        <p14:creationId xmlns:p14="http://schemas.microsoft.com/office/powerpoint/2010/main" val="1044206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1AD05-E3BF-5117-74BB-9D180EF16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93DBD-3D66-28F0-1E37-838458AD2C5A}"/>
              </a:ext>
            </a:extLst>
          </p:cNvPr>
          <p:cNvSpPr>
            <a:spLocks noGrp="1"/>
          </p:cNvSpPr>
          <p:nvPr>
            <p:ph type="title"/>
          </p:nvPr>
        </p:nvSpPr>
        <p:spPr/>
        <p:txBody>
          <a:bodyPr/>
          <a:lstStyle/>
          <a:p>
            <a:r>
              <a:rPr lang="en-IN" b="1" dirty="0"/>
              <a:t>State Diagram</a:t>
            </a:r>
          </a:p>
        </p:txBody>
      </p:sp>
      <p:sp>
        <p:nvSpPr>
          <p:cNvPr id="4" name="Slide Number Placeholder 3">
            <a:extLst>
              <a:ext uri="{FF2B5EF4-FFF2-40B4-BE49-F238E27FC236}">
                <a16:creationId xmlns:a16="http://schemas.microsoft.com/office/drawing/2014/main" id="{468E92A0-5AC9-61D1-55F3-65678B81CE9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25</a:t>
            </a:fld>
            <a:endParaRPr lang="en-IN"/>
          </a:p>
        </p:txBody>
      </p:sp>
      <p:pic>
        <p:nvPicPr>
          <p:cNvPr id="6" name="Picture 5" descr="A screenshot of a computer&#10;&#10;AI-generated content may be incorrect.">
            <a:extLst>
              <a:ext uri="{FF2B5EF4-FFF2-40B4-BE49-F238E27FC236}">
                <a16:creationId xmlns:a16="http://schemas.microsoft.com/office/drawing/2014/main" id="{08788B3B-49C9-59EC-33AA-DCB1C7156CB8}"/>
              </a:ext>
            </a:extLst>
          </p:cNvPr>
          <p:cNvPicPr>
            <a:picLocks noChangeAspect="1"/>
          </p:cNvPicPr>
          <p:nvPr/>
        </p:nvPicPr>
        <p:blipFill>
          <a:blip r:embed="rId3"/>
          <a:stretch>
            <a:fillRect/>
          </a:stretch>
        </p:blipFill>
        <p:spPr>
          <a:xfrm>
            <a:off x="3367087" y="1771650"/>
            <a:ext cx="5457825" cy="3314700"/>
          </a:xfrm>
          <a:prstGeom prst="rect">
            <a:avLst/>
          </a:prstGeom>
        </p:spPr>
      </p:pic>
    </p:spTree>
    <p:extLst>
      <p:ext uri="{BB962C8B-B14F-4D97-AF65-F5344CB8AC3E}">
        <p14:creationId xmlns:p14="http://schemas.microsoft.com/office/powerpoint/2010/main" val="4159388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6F2A-287C-6E4E-496C-741BC289B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EB9E2-5465-E595-E4F2-D12556D1236E}"/>
              </a:ext>
            </a:extLst>
          </p:cNvPr>
          <p:cNvSpPr>
            <a:spLocks noGrp="1"/>
          </p:cNvSpPr>
          <p:nvPr>
            <p:ph type="title"/>
          </p:nvPr>
        </p:nvSpPr>
        <p:spPr/>
        <p:txBody>
          <a:bodyPr/>
          <a:lstStyle/>
          <a:p>
            <a:r>
              <a:rPr lang="en-IN" b="1" dirty="0"/>
              <a:t>Refined Class Diagram</a:t>
            </a:r>
          </a:p>
        </p:txBody>
      </p:sp>
      <p:sp>
        <p:nvSpPr>
          <p:cNvPr id="4" name="Slide Number Placeholder 3">
            <a:extLst>
              <a:ext uri="{FF2B5EF4-FFF2-40B4-BE49-F238E27FC236}">
                <a16:creationId xmlns:a16="http://schemas.microsoft.com/office/drawing/2014/main" id="{FA5FF552-354C-DAA1-89B4-3C5E2DED990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26</a:t>
            </a:fld>
            <a:endParaRPr lang="en-IN"/>
          </a:p>
        </p:txBody>
      </p:sp>
      <p:pic>
        <p:nvPicPr>
          <p:cNvPr id="6" name="Picture 5" descr="A black and white image of a black background&#10;&#10;AI-generated content may be incorrect.">
            <a:extLst>
              <a:ext uri="{FF2B5EF4-FFF2-40B4-BE49-F238E27FC236}">
                <a16:creationId xmlns:a16="http://schemas.microsoft.com/office/drawing/2014/main" id="{DE42ABD8-29AB-09CF-0130-30FE24D5FC19}"/>
              </a:ext>
            </a:extLst>
          </p:cNvPr>
          <p:cNvPicPr>
            <a:picLocks noChangeAspect="1"/>
          </p:cNvPicPr>
          <p:nvPr/>
        </p:nvPicPr>
        <p:blipFill>
          <a:blip r:embed="rId3"/>
          <a:stretch>
            <a:fillRect/>
          </a:stretch>
        </p:blipFill>
        <p:spPr>
          <a:xfrm>
            <a:off x="962025" y="1047565"/>
            <a:ext cx="10267950" cy="5048435"/>
          </a:xfrm>
          <a:prstGeom prst="rect">
            <a:avLst/>
          </a:prstGeom>
        </p:spPr>
      </p:pic>
    </p:spTree>
    <p:extLst>
      <p:ext uri="{BB962C8B-B14F-4D97-AF65-F5344CB8AC3E}">
        <p14:creationId xmlns:p14="http://schemas.microsoft.com/office/powerpoint/2010/main" val="3613770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F25EC9E-51DB-DFB9-4A4B-3EC7E17757EE}"/>
              </a:ext>
            </a:extLst>
          </p:cNvPr>
          <p:cNvSpPr>
            <a:spLocks noGrp="1"/>
          </p:cNvSpPr>
          <p:nvPr>
            <p:ph type="title"/>
          </p:nvPr>
        </p:nvSpPr>
        <p:spPr>
          <a:xfrm>
            <a:off x="293688" y="322263"/>
            <a:ext cx="10333037" cy="725487"/>
          </a:xfrm>
        </p:spPr>
        <p:txBody>
          <a:bodyPr/>
          <a:lstStyle/>
          <a:p>
            <a:pPr eaLnBrk="1" hangingPunct="1"/>
            <a:r>
              <a:rPr lang="en-IN" altLang="en-US" b="1" dirty="0"/>
              <a:t>References</a:t>
            </a:r>
            <a:endParaRPr lang="en-IN" altLang="en-US" dirty="0"/>
          </a:p>
        </p:txBody>
      </p:sp>
      <p:sp>
        <p:nvSpPr>
          <p:cNvPr id="18435" name="Content Placeholder 2">
            <a:extLst>
              <a:ext uri="{FF2B5EF4-FFF2-40B4-BE49-F238E27FC236}">
                <a16:creationId xmlns:a16="http://schemas.microsoft.com/office/drawing/2014/main" id="{52F1D077-A8D9-7E14-5FFF-F46D95A09B6E}"/>
              </a:ext>
            </a:extLst>
          </p:cNvPr>
          <p:cNvSpPr>
            <a:spLocks noGrp="1"/>
          </p:cNvSpPr>
          <p:nvPr>
            <p:ph idx="1"/>
          </p:nvPr>
        </p:nvSpPr>
        <p:spPr>
          <a:xfrm>
            <a:off x="293688" y="1304925"/>
            <a:ext cx="11576050" cy="4872038"/>
          </a:xfrm>
        </p:spPr>
        <p:txBody>
          <a:bodyPr/>
          <a:lstStyle/>
          <a:p>
            <a:pPr algn="just" eaLnBrk="1" hangingPunct="1"/>
            <a:r>
              <a:rPr lang="en-IN" altLang="en-US" dirty="0" err="1"/>
              <a:t>Jurafsky</a:t>
            </a:r>
            <a:r>
              <a:rPr lang="en-IN" altLang="en-US" dirty="0"/>
              <a:t>, D., &amp; Martin, J.H. (2021). </a:t>
            </a:r>
            <a:r>
              <a:rPr lang="en-IN" altLang="en-US" i="1" dirty="0"/>
              <a:t>Speech and Language Processing</a:t>
            </a:r>
            <a:r>
              <a:rPr lang="en-IN" altLang="en-US" dirty="0"/>
              <a:t> (3rd Edition).</a:t>
            </a:r>
          </a:p>
          <a:p>
            <a:pPr algn="just" eaLnBrk="1" hangingPunct="1"/>
            <a:r>
              <a:rPr lang="en-IN" altLang="en-US" dirty="0" err="1"/>
              <a:t>OpenCV</a:t>
            </a:r>
            <a:r>
              <a:rPr lang="en-IN" altLang="en-US" dirty="0"/>
              <a:t> Documentation: </a:t>
            </a:r>
            <a:r>
              <a:rPr lang="en-IN" altLang="en-US" dirty="0">
                <a:hlinkClick r:id="rId3"/>
              </a:rPr>
              <a:t>https://docs.opencv.org</a:t>
            </a:r>
            <a:endParaRPr lang="en-IN" altLang="en-US" dirty="0"/>
          </a:p>
          <a:p>
            <a:pPr algn="just" eaLnBrk="1" hangingPunct="1"/>
            <a:r>
              <a:rPr lang="en-IN" altLang="en-US" dirty="0" err="1"/>
              <a:t>TensorFlow</a:t>
            </a:r>
            <a:r>
              <a:rPr lang="en-IN" altLang="en-US" dirty="0"/>
              <a:t> Documentation: </a:t>
            </a:r>
            <a:r>
              <a:rPr lang="en-IN" altLang="en-US" dirty="0">
                <a:hlinkClick r:id="rId4"/>
              </a:rPr>
              <a:t>https://www.tensorflow.org</a:t>
            </a:r>
            <a:endParaRPr lang="en-IN" altLang="en-US" dirty="0"/>
          </a:p>
          <a:p>
            <a:pPr algn="just" eaLnBrk="1" hangingPunct="1"/>
            <a:r>
              <a:rPr lang="en-IN" altLang="en-US" dirty="0"/>
              <a:t>IEEE Journals on AI-driven Sentiment Analysis and Video Interview Systems.</a:t>
            </a:r>
          </a:p>
          <a:p>
            <a:pPr algn="just" eaLnBrk="1" hangingPunct="1"/>
            <a:r>
              <a:rPr lang="en-IN" altLang="en-US" dirty="0"/>
              <a:t>Research papers on emotion recognition and automated recruitment tools (IEEE </a:t>
            </a:r>
            <a:r>
              <a:rPr lang="en-IN" altLang="en-US" dirty="0" err="1"/>
              <a:t>Xplore</a:t>
            </a:r>
            <a:r>
              <a:rPr lang="en-IN" altLang="en-US" dirty="0"/>
              <a:t>).</a:t>
            </a:r>
          </a:p>
          <a:p>
            <a:pPr algn="just" eaLnBrk="1" hangingPunct="1"/>
            <a:endParaRPr lang="en-IN" altLang="en-US" dirty="0"/>
          </a:p>
          <a:p>
            <a:pPr eaLnBrk="1" hangingPunct="1"/>
            <a:endParaRPr lang="en-IN" altLang="en-US" dirty="0"/>
          </a:p>
        </p:txBody>
      </p:sp>
      <p:sp>
        <p:nvSpPr>
          <p:cNvPr id="18436" name="Slide Number Placeholder 3">
            <a:extLst>
              <a:ext uri="{FF2B5EF4-FFF2-40B4-BE49-F238E27FC236}">
                <a16:creationId xmlns:a16="http://schemas.microsoft.com/office/drawing/2014/main" id="{A03E732D-7F84-2272-7673-6F9F07E77C42}"/>
              </a:ext>
            </a:extLst>
          </p:cNvPr>
          <p:cNvSpPr>
            <a:spLocks noGrp="1" noChangeArrowheads="1"/>
          </p:cNvSpPr>
          <p:nvPr>
            <p:ph type="sldNum" sz="quarter" idx="10"/>
          </p:nvPr>
        </p:nvSpPr>
        <p:spPr bwMode="auto">
          <a:xfrm>
            <a:off x="11133138" y="6356350"/>
            <a:ext cx="736600" cy="276225"/>
          </a:xfrm>
          <a:prstGeom prst="rect">
            <a:avLst/>
          </a:prstGeom>
          <a:solidFill>
            <a:srgbClr val="00206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200" b="1"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nSpc>
                <a:spcPct val="100000"/>
              </a:lnSpc>
              <a:spcBef>
                <a:spcPct val="0"/>
              </a:spcBef>
              <a:buFontTx/>
              <a:buNone/>
              <a:defRPr/>
            </a:pPr>
            <a:fld id="{C99DEB5C-80CF-456A-B454-3641AD704B95}" type="slidenum">
              <a:rPr lang="en-IN" altLang="en-US" smtClean="0"/>
              <a:pPr>
                <a:lnSpc>
                  <a:spcPct val="100000"/>
                </a:lnSpc>
                <a:spcBef>
                  <a:spcPct val="0"/>
                </a:spcBef>
                <a:buFontTx/>
                <a:buNone/>
                <a:defRPr/>
              </a:pPr>
              <a:t>27</a:t>
            </a:fld>
            <a:endParaRPr lang="en-IN" altLang="en-US" sz="1200">
              <a:solidFill>
                <a:schemeClr val="bg1"/>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F4AB3-D049-A32B-B4B1-EC58445A4D05}"/>
              </a:ext>
            </a:extLst>
          </p:cNvPr>
          <p:cNvSpPr>
            <a:spLocks noGrp="1"/>
          </p:cNvSpPr>
          <p:nvPr>
            <p:ph type="title"/>
          </p:nvPr>
        </p:nvSpPr>
        <p:spPr/>
        <p:txBody>
          <a:bodyPr/>
          <a:lstStyle/>
          <a:p>
            <a:r>
              <a:rPr lang="en-IN" altLang="en-US" b="1" dirty="0"/>
              <a:t>TEST CASES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DFCA277-3BB6-E844-B253-0E46C3337CD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28</a:t>
            </a:fld>
            <a:endParaRPr lang="en-IN"/>
          </a:p>
        </p:txBody>
      </p:sp>
      <p:graphicFrame>
        <p:nvGraphicFramePr>
          <p:cNvPr id="5" name="Table 4">
            <a:extLst>
              <a:ext uri="{FF2B5EF4-FFF2-40B4-BE49-F238E27FC236}">
                <a16:creationId xmlns:a16="http://schemas.microsoft.com/office/drawing/2014/main" id="{5F65C33D-5FF0-D17C-10CF-CE984598DA31}"/>
              </a:ext>
            </a:extLst>
          </p:cNvPr>
          <p:cNvGraphicFramePr>
            <a:graphicFrameLocks noGrp="1"/>
          </p:cNvGraphicFramePr>
          <p:nvPr>
            <p:extLst>
              <p:ext uri="{D42A27DB-BD31-4B8C-83A1-F6EECF244321}">
                <p14:modId xmlns:p14="http://schemas.microsoft.com/office/powerpoint/2010/main" val="4133733884"/>
              </p:ext>
            </p:extLst>
          </p:nvPr>
        </p:nvGraphicFramePr>
        <p:xfrm>
          <a:off x="783166" y="1450201"/>
          <a:ext cx="10625668" cy="4028856"/>
        </p:xfrm>
        <a:graphic>
          <a:graphicData uri="http://schemas.openxmlformats.org/drawingml/2006/table">
            <a:tbl>
              <a:tblPr firstRow="1" bandRow="1">
                <a:tableStyleId>{5C22544A-7EE6-4342-B048-85BDC9FD1C3A}</a:tableStyleId>
              </a:tblPr>
              <a:tblGrid>
                <a:gridCol w="2125134">
                  <a:extLst>
                    <a:ext uri="{9D8B030D-6E8A-4147-A177-3AD203B41FA5}">
                      <a16:colId xmlns:a16="http://schemas.microsoft.com/office/drawing/2014/main" val="1395156619"/>
                    </a:ext>
                  </a:extLst>
                </a:gridCol>
                <a:gridCol w="2125134">
                  <a:extLst>
                    <a:ext uri="{9D8B030D-6E8A-4147-A177-3AD203B41FA5}">
                      <a16:colId xmlns:a16="http://schemas.microsoft.com/office/drawing/2014/main" val="4260848043"/>
                    </a:ext>
                  </a:extLst>
                </a:gridCol>
                <a:gridCol w="2616882">
                  <a:extLst>
                    <a:ext uri="{9D8B030D-6E8A-4147-A177-3AD203B41FA5}">
                      <a16:colId xmlns:a16="http://schemas.microsoft.com/office/drawing/2014/main" val="3518223101"/>
                    </a:ext>
                  </a:extLst>
                </a:gridCol>
                <a:gridCol w="2447911">
                  <a:extLst>
                    <a:ext uri="{9D8B030D-6E8A-4147-A177-3AD203B41FA5}">
                      <a16:colId xmlns:a16="http://schemas.microsoft.com/office/drawing/2014/main" val="1502742030"/>
                    </a:ext>
                  </a:extLst>
                </a:gridCol>
                <a:gridCol w="1310607">
                  <a:extLst>
                    <a:ext uri="{9D8B030D-6E8A-4147-A177-3AD203B41FA5}">
                      <a16:colId xmlns:a16="http://schemas.microsoft.com/office/drawing/2014/main" val="3372678528"/>
                    </a:ext>
                  </a:extLst>
                </a:gridCol>
              </a:tblGrid>
              <a:tr h="503607">
                <a:tc>
                  <a:txBody>
                    <a:bodyPr/>
                    <a:lstStyle/>
                    <a:p>
                      <a:pPr algn="ctr" fontAlgn="ctr">
                        <a:buNone/>
                      </a:pPr>
                      <a:r>
                        <a:rPr lang="en-IN" sz="1400" b="1" i="0" u="none" strike="noStrike" dirty="0">
                          <a:solidFill>
                            <a:srgbClr val="000000"/>
                          </a:solidFill>
                          <a:effectLst/>
                          <a:latin typeface="+mj-lt"/>
                        </a:rPr>
                        <a:t>TC ID</a:t>
                      </a:r>
                    </a:p>
                  </a:txBody>
                  <a:tcPr marL="7620" marR="7620" marT="7620" marB="0" anchor="ctr"/>
                </a:tc>
                <a:tc>
                  <a:txBody>
                    <a:bodyPr/>
                    <a:lstStyle/>
                    <a:p>
                      <a:pPr algn="ctr" fontAlgn="ctr">
                        <a:buNone/>
                      </a:pPr>
                      <a:r>
                        <a:rPr lang="en-IN" sz="1400" b="1" i="0" u="none" strike="noStrike">
                          <a:solidFill>
                            <a:srgbClr val="000000"/>
                          </a:solidFill>
                          <a:effectLst/>
                          <a:latin typeface="+mj-lt"/>
                        </a:rPr>
                        <a:t>Module</a:t>
                      </a:r>
                    </a:p>
                  </a:txBody>
                  <a:tcPr marL="7620" marR="7620" marT="7620" marB="0" anchor="ctr"/>
                </a:tc>
                <a:tc>
                  <a:txBody>
                    <a:bodyPr/>
                    <a:lstStyle/>
                    <a:p>
                      <a:pPr algn="ctr" fontAlgn="ctr">
                        <a:buNone/>
                      </a:pPr>
                      <a:r>
                        <a:rPr lang="en-IN" sz="1400" b="1" i="0" u="none" strike="noStrike">
                          <a:solidFill>
                            <a:srgbClr val="000000"/>
                          </a:solidFill>
                          <a:effectLst/>
                          <a:latin typeface="+mj-lt"/>
                        </a:rPr>
                        <a:t>Test Case Description</a:t>
                      </a:r>
                    </a:p>
                  </a:txBody>
                  <a:tcPr marL="7620" marR="7620" marT="7620" marB="0" anchor="ctr"/>
                </a:tc>
                <a:tc>
                  <a:txBody>
                    <a:bodyPr/>
                    <a:lstStyle/>
                    <a:p>
                      <a:pPr algn="ctr" fontAlgn="ctr">
                        <a:buNone/>
                      </a:pPr>
                      <a:r>
                        <a:rPr lang="en-IN" sz="1400" b="1" i="0" u="none" strike="noStrike">
                          <a:solidFill>
                            <a:srgbClr val="000000"/>
                          </a:solidFill>
                          <a:effectLst/>
                          <a:latin typeface="+mj-lt"/>
                        </a:rPr>
                        <a:t>Expected Result</a:t>
                      </a:r>
                    </a:p>
                  </a:txBody>
                  <a:tcPr marL="7620" marR="7620" marT="7620" marB="0" anchor="ctr"/>
                </a:tc>
                <a:tc>
                  <a:txBody>
                    <a:bodyPr/>
                    <a:lstStyle/>
                    <a:p>
                      <a:pPr algn="ctr" fontAlgn="ctr">
                        <a:buNone/>
                      </a:pPr>
                      <a:r>
                        <a:rPr lang="en-IN" sz="1400" b="1" i="0" u="none" strike="noStrike" dirty="0">
                          <a:solidFill>
                            <a:srgbClr val="000000"/>
                          </a:solidFill>
                          <a:effectLst/>
                          <a:latin typeface="+mj-lt"/>
                        </a:rPr>
                        <a:t>Status</a:t>
                      </a:r>
                    </a:p>
                  </a:txBody>
                  <a:tcPr marL="7620" marR="7620" marT="7620" marB="0" anchor="ctr"/>
                </a:tc>
                <a:extLst>
                  <a:ext uri="{0D108BD9-81ED-4DB2-BD59-A6C34878D82A}">
                    <a16:rowId xmlns:a16="http://schemas.microsoft.com/office/drawing/2014/main" val="874415342"/>
                  </a:ext>
                </a:extLst>
              </a:tr>
              <a:tr h="503607">
                <a:tc>
                  <a:txBody>
                    <a:bodyPr/>
                    <a:lstStyle/>
                    <a:p>
                      <a:pPr algn="ctr" fontAlgn="ctr">
                        <a:buNone/>
                      </a:pPr>
                      <a:r>
                        <a:rPr lang="en-IN" sz="1400" b="0" i="0" u="none" strike="noStrike">
                          <a:solidFill>
                            <a:srgbClr val="000000"/>
                          </a:solidFill>
                          <a:effectLst/>
                          <a:latin typeface="+mj-lt"/>
                        </a:rPr>
                        <a:t>TC-01</a:t>
                      </a:r>
                    </a:p>
                  </a:txBody>
                  <a:tcPr marL="7620" marR="7620" marT="7620" marB="0" anchor="ctr"/>
                </a:tc>
                <a:tc>
                  <a:txBody>
                    <a:bodyPr/>
                    <a:lstStyle/>
                    <a:p>
                      <a:pPr algn="ctr" fontAlgn="ctr">
                        <a:buNone/>
                      </a:pPr>
                      <a:r>
                        <a:rPr lang="en-IN" sz="1400" b="0" i="0" u="none" strike="noStrike">
                          <a:solidFill>
                            <a:srgbClr val="000000"/>
                          </a:solidFill>
                          <a:effectLst/>
                          <a:latin typeface="+mj-lt"/>
                        </a:rPr>
                        <a:t>Auth</a:t>
                      </a:r>
                    </a:p>
                  </a:txBody>
                  <a:tcPr marL="7620" marR="7620" marT="7620" marB="0" anchor="ctr"/>
                </a:tc>
                <a:tc>
                  <a:txBody>
                    <a:bodyPr/>
                    <a:lstStyle/>
                    <a:p>
                      <a:pPr algn="ctr" fontAlgn="ctr">
                        <a:buNone/>
                      </a:pPr>
                      <a:r>
                        <a:rPr lang="en-IN" sz="1400" b="0" i="0" u="none" strike="noStrike">
                          <a:solidFill>
                            <a:srgbClr val="000000"/>
                          </a:solidFill>
                          <a:effectLst/>
                          <a:latin typeface="+mj-lt"/>
                        </a:rPr>
                        <a:t>Login with valid credentials</a:t>
                      </a:r>
                    </a:p>
                  </a:txBody>
                  <a:tcPr marL="7620" marR="7620" marT="7620" marB="0" anchor="ctr"/>
                </a:tc>
                <a:tc>
                  <a:txBody>
                    <a:bodyPr/>
                    <a:lstStyle/>
                    <a:p>
                      <a:pPr algn="ctr" fontAlgn="ctr">
                        <a:buNone/>
                      </a:pPr>
                      <a:r>
                        <a:rPr lang="en-IN" sz="1400" b="0" i="0" u="none" strike="noStrike">
                          <a:solidFill>
                            <a:srgbClr val="000000"/>
                          </a:solidFill>
                          <a:effectLst/>
                          <a:latin typeface="+mj-lt"/>
                        </a:rPr>
                        <a:t>User redirected to dashboard</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79356252"/>
                  </a:ext>
                </a:extLst>
              </a:tr>
              <a:tr h="503607">
                <a:tc>
                  <a:txBody>
                    <a:bodyPr/>
                    <a:lstStyle/>
                    <a:p>
                      <a:pPr algn="ctr" fontAlgn="ctr">
                        <a:buNone/>
                      </a:pPr>
                      <a:r>
                        <a:rPr lang="en-IN" sz="1400" b="0" i="0" u="none" strike="noStrike">
                          <a:solidFill>
                            <a:srgbClr val="000000"/>
                          </a:solidFill>
                          <a:effectLst/>
                          <a:latin typeface="+mj-lt"/>
                        </a:rPr>
                        <a:t>TC-02</a:t>
                      </a:r>
                    </a:p>
                  </a:txBody>
                  <a:tcPr marL="7620" marR="7620" marT="7620" marB="0" anchor="ctr"/>
                </a:tc>
                <a:tc>
                  <a:txBody>
                    <a:bodyPr/>
                    <a:lstStyle/>
                    <a:p>
                      <a:pPr algn="ctr" fontAlgn="ctr">
                        <a:buNone/>
                      </a:pPr>
                      <a:r>
                        <a:rPr lang="en-IN" sz="1400" b="0" i="0" u="none" strike="noStrike">
                          <a:solidFill>
                            <a:srgbClr val="000000"/>
                          </a:solidFill>
                          <a:effectLst/>
                          <a:latin typeface="+mj-lt"/>
                        </a:rPr>
                        <a:t>Auth</a:t>
                      </a:r>
                    </a:p>
                  </a:txBody>
                  <a:tcPr marL="7620" marR="7620" marT="7620" marB="0" anchor="ctr"/>
                </a:tc>
                <a:tc>
                  <a:txBody>
                    <a:bodyPr/>
                    <a:lstStyle/>
                    <a:p>
                      <a:pPr algn="ctr" fontAlgn="ctr">
                        <a:buNone/>
                      </a:pPr>
                      <a:r>
                        <a:rPr lang="en-IN" sz="1400" b="0" i="0" u="none" strike="noStrike">
                          <a:solidFill>
                            <a:srgbClr val="000000"/>
                          </a:solidFill>
                          <a:effectLst/>
                          <a:latin typeface="+mj-lt"/>
                        </a:rPr>
                        <a:t>Login with invalid credentials</a:t>
                      </a:r>
                    </a:p>
                  </a:txBody>
                  <a:tcPr marL="7620" marR="7620" marT="7620" marB="0" anchor="ctr"/>
                </a:tc>
                <a:tc>
                  <a:txBody>
                    <a:bodyPr/>
                    <a:lstStyle/>
                    <a:p>
                      <a:pPr algn="ctr" fontAlgn="ctr">
                        <a:buNone/>
                      </a:pPr>
                      <a:r>
                        <a:rPr lang="en-IN" sz="1400" b="0" i="0" u="none" strike="noStrike">
                          <a:solidFill>
                            <a:srgbClr val="000000"/>
                          </a:solidFill>
                          <a:effectLst/>
                          <a:latin typeface="+mj-lt"/>
                        </a:rPr>
                        <a:t>Error message shown</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965208935"/>
                  </a:ext>
                </a:extLst>
              </a:tr>
              <a:tr h="503607">
                <a:tc>
                  <a:txBody>
                    <a:bodyPr/>
                    <a:lstStyle/>
                    <a:p>
                      <a:pPr algn="ctr" fontAlgn="ctr">
                        <a:buNone/>
                      </a:pPr>
                      <a:r>
                        <a:rPr lang="en-IN" sz="1400" b="0" i="0" u="none" strike="noStrike">
                          <a:solidFill>
                            <a:srgbClr val="000000"/>
                          </a:solidFill>
                          <a:effectLst/>
                          <a:latin typeface="+mj-lt"/>
                        </a:rPr>
                        <a:t>TC-03</a:t>
                      </a:r>
                    </a:p>
                  </a:txBody>
                  <a:tcPr marL="7620" marR="7620" marT="7620" marB="0" anchor="ctr"/>
                </a:tc>
                <a:tc>
                  <a:txBody>
                    <a:bodyPr/>
                    <a:lstStyle/>
                    <a:p>
                      <a:pPr algn="ctr" fontAlgn="ctr">
                        <a:buNone/>
                      </a:pPr>
                      <a:r>
                        <a:rPr lang="en-IN" sz="1400" b="0" i="0" u="none" strike="noStrike">
                          <a:solidFill>
                            <a:srgbClr val="000000"/>
                          </a:solidFill>
                          <a:effectLst/>
                          <a:latin typeface="+mj-lt"/>
                        </a:rPr>
                        <a:t>Dashboard</a:t>
                      </a:r>
                    </a:p>
                  </a:txBody>
                  <a:tcPr marL="7620" marR="7620" marT="7620" marB="0" anchor="ctr"/>
                </a:tc>
                <a:tc>
                  <a:txBody>
                    <a:bodyPr/>
                    <a:lstStyle/>
                    <a:p>
                      <a:pPr algn="ctr" fontAlgn="ctr">
                        <a:buNone/>
                      </a:pPr>
                      <a:r>
                        <a:rPr lang="en-IN" sz="1400" b="0" i="0" u="none" strike="noStrike">
                          <a:solidFill>
                            <a:srgbClr val="000000"/>
                          </a:solidFill>
                          <a:effectLst/>
                          <a:latin typeface="+mj-lt"/>
                        </a:rPr>
                        <a:t>Start HR interview</a:t>
                      </a:r>
                    </a:p>
                  </a:txBody>
                  <a:tcPr marL="7620" marR="7620" marT="7620" marB="0" anchor="ctr"/>
                </a:tc>
                <a:tc>
                  <a:txBody>
                    <a:bodyPr/>
                    <a:lstStyle/>
                    <a:p>
                      <a:pPr algn="ctr" fontAlgn="ctr">
                        <a:buNone/>
                      </a:pPr>
                      <a:r>
                        <a:rPr lang="en-IN" sz="1400" b="0" i="0" u="none" strike="noStrike">
                          <a:solidFill>
                            <a:srgbClr val="000000"/>
                          </a:solidFill>
                          <a:effectLst/>
                          <a:latin typeface="+mj-lt"/>
                        </a:rPr>
                        <a:t>HR interview page loads</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304668580"/>
                  </a:ext>
                </a:extLst>
              </a:tr>
              <a:tr h="503607">
                <a:tc>
                  <a:txBody>
                    <a:bodyPr/>
                    <a:lstStyle/>
                    <a:p>
                      <a:pPr algn="ctr" fontAlgn="ctr">
                        <a:buNone/>
                      </a:pPr>
                      <a:r>
                        <a:rPr lang="en-IN" sz="1400" b="0" i="0" u="none" strike="noStrike">
                          <a:solidFill>
                            <a:srgbClr val="000000"/>
                          </a:solidFill>
                          <a:effectLst/>
                          <a:latin typeface="+mj-lt"/>
                        </a:rPr>
                        <a:t>TC-04</a:t>
                      </a:r>
                    </a:p>
                  </a:txBody>
                  <a:tcPr marL="7620" marR="7620" marT="7620" marB="0" anchor="ctr"/>
                </a:tc>
                <a:tc>
                  <a:txBody>
                    <a:bodyPr/>
                    <a:lstStyle/>
                    <a:p>
                      <a:pPr algn="ctr" fontAlgn="ctr">
                        <a:buNone/>
                      </a:pPr>
                      <a:r>
                        <a:rPr lang="en-IN" sz="1400" b="0" i="0" u="none" strike="noStrike">
                          <a:solidFill>
                            <a:srgbClr val="000000"/>
                          </a:solidFill>
                          <a:effectLst/>
                          <a:latin typeface="+mj-lt"/>
                        </a:rPr>
                        <a:t>Dashboard</a:t>
                      </a:r>
                    </a:p>
                  </a:txBody>
                  <a:tcPr marL="7620" marR="7620" marT="7620" marB="0" anchor="ctr"/>
                </a:tc>
                <a:tc>
                  <a:txBody>
                    <a:bodyPr/>
                    <a:lstStyle/>
                    <a:p>
                      <a:pPr algn="ctr" fontAlgn="ctr">
                        <a:buNone/>
                      </a:pPr>
                      <a:r>
                        <a:rPr lang="en-IN" sz="1400" b="0" i="0" u="none" strike="noStrike">
                          <a:solidFill>
                            <a:srgbClr val="000000"/>
                          </a:solidFill>
                          <a:effectLst/>
                          <a:latin typeface="+mj-lt"/>
                        </a:rPr>
                        <a:t>Start technical interview</a:t>
                      </a:r>
                    </a:p>
                  </a:txBody>
                  <a:tcPr marL="7620" marR="7620" marT="7620" marB="0" anchor="ctr"/>
                </a:tc>
                <a:tc>
                  <a:txBody>
                    <a:bodyPr/>
                    <a:lstStyle/>
                    <a:p>
                      <a:pPr algn="ctr" fontAlgn="ctr">
                        <a:buNone/>
                      </a:pPr>
                      <a:r>
                        <a:rPr lang="en-US" sz="1400" b="0" i="0" u="none" strike="noStrike">
                          <a:solidFill>
                            <a:srgbClr val="000000"/>
                          </a:solidFill>
                          <a:effectLst/>
                          <a:latin typeface="+mj-lt"/>
                        </a:rPr>
                        <a:t>Interview starts with selected tech</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23823613"/>
                  </a:ext>
                </a:extLst>
              </a:tr>
              <a:tr h="503607">
                <a:tc>
                  <a:txBody>
                    <a:bodyPr/>
                    <a:lstStyle/>
                    <a:p>
                      <a:pPr algn="ctr" fontAlgn="ctr">
                        <a:buNone/>
                      </a:pPr>
                      <a:r>
                        <a:rPr lang="en-IN" sz="1400" b="0" i="0" u="none" strike="noStrike">
                          <a:solidFill>
                            <a:srgbClr val="000000"/>
                          </a:solidFill>
                          <a:effectLst/>
                          <a:latin typeface="+mj-lt"/>
                        </a:rPr>
                        <a:t>TC-05</a:t>
                      </a:r>
                    </a:p>
                  </a:txBody>
                  <a:tcPr marL="7620" marR="7620" marT="7620" marB="0" anchor="ctr"/>
                </a:tc>
                <a:tc>
                  <a:txBody>
                    <a:bodyPr/>
                    <a:lstStyle/>
                    <a:p>
                      <a:pPr algn="ctr" fontAlgn="ctr">
                        <a:buNone/>
                      </a:pPr>
                      <a:r>
                        <a:rPr lang="en-IN" sz="1400" b="0" i="0" u="none" strike="noStrike">
                          <a:solidFill>
                            <a:srgbClr val="000000"/>
                          </a:solidFill>
                          <a:effectLst/>
                          <a:latin typeface="+mj-lt"/>
                        </a:rPr>
                        <a:t>Interview</a:t>
                      </a:r>
                    </a:p>
                  </a:txBody>
                  <a:tcPr marL="7620" marR="7620" marT="7620" marB="0" anchor="ctr"/>
                </a:tc>
                <a:tc>
                  <a:txBody>
                    <a:bodyPr/>
                    <a:lstStyle/>
                    <a:p>
                      <a:pPr algn="ctr" fontAlgn="ctr">
                        <a:buNone/>
                      </a:pPr>
                      <a:r>
                        <a:rPr lang="en-IN" sz="1400" b="0" i="0" u="none" strike="noStrike">
                          <a:solidFill>
                            <a:srgbClr val="000000"/>
                          </a:solidFill>
                          <a:effectLst/>
                          <a:latin typeface="+mj-lt"/>
                        </a:rPr>
                        <a:t>Load interview questions</a:t>
                      </a:r>
                    </a:p>
                  </a:txBody>
                  <a:tcPr marL="7620" marR="7620" marT="7620" marB="0" anchor="ctr"/>
                </a:tc>
                <a:tc>
                  <a:txBody>
                    <a:bodyPr/>
                    <a:lstStyle/>
                    <a:p>
                      <a:pPr algn="ctr" fontAlgn="ctr">
                        <a:buNone/>
                      </a:pPr>
                      <a:r>
                        <a:rPr lang="en-IN" sz="1400" b="0" i="0" u="none" strike="noStrike">
                          <a:solidFill>
                            <a:srgbClr val="000000"/>
                          </a:solidFill>
                          <a:effectLst/>
                          <a:latin typeface="+mj-lt"/>
                        </a:rPr>
                        <a:t>Questions displayed sequentially</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490272429"/>
                  </a:ext>
                </a:extLst>
              </a:tr>
              <a:tr h="503607">
                <a:tc>
                  <a:txBody>
                    <a:bodyPr/>
                    <a:lstStyle/>
                    <a:p>
                      <a:pPr algn="ctr" fontAlgn="ctr">
                        <a:buNone/>
                      </a:pPr>
                      <a:r>
                        <a:rPr lang="en-IN" sz="1400" b="0" i="0" u="none" strike="noStrike">
                          <a:solidFill>
                            <a:srgbClr val="000000"/>
                          </a:solidFill>
                          <a:effectLst/>
                          <a:latin typeface="+mj-lt"/>
                        </a:rPr>
                        <a:t>TC-06</a:t>
                      </a:r>
                    </a:p>
                  </a:txBody>
                  <a:tcPr marL="7620" marR="7620" marT="7620" marB="0" anchor="ctr"/>
                </a:tc>
                <a:tc>
                  <a:txBody>
                    <a:bodyPr/>
                    <a:lstStyle/>
                    <a:p>
                      <a:pPr algn="ctr" fontAlgn="ctr">
                        <a:buNone/>
                      </a:pPr>
                      <a:r>
                        <a:rPr lang="en-IN" sz="1400" b="0" i="0" u="none" strike="noStrike">
                          <a:solidFill>
                            <a:srgbClr val="000000"/>
                          </a:solidFill>
                          <a:effectLst/>
                          <a:latin typeface="+mj-lt"/>
                        </a:rPr>
                        <a:t>Speech</a:t>
                      </a:r>
                    </a:p>
                  </a:txBody>
                  <a:tcPr marL="7620" marR="7620" marT="7620" marB="0" anchor="ctr"/>
                </a:tc>
                <a:tc>
                  <a:txBody>
                    <a:bodyPr/>
                    <a:lstStyle/>
                    <a:p>
                      <a:pPr algn="ctr" fontAlgn="ctr">
                        <a:buNone/>
                      </a:pPr>
                      <a:r>
                        <a:rPr lang="en-IN" sz="1400" b="0" i="0" u="none" strike="noStrike">
                          <a:solidFill>
                            <a:srgbClr val="000000"/>
                          </a:solidFill>
                          <a:effectLst/>
                          <a:latin typeface="+mj-lt"/>
                        </a:rPr>
                        <a:t>Start/Stop microphone</a:t>
                      </a:r>
                    </a:p>
                  </a:txBody>
                  <a:tcPr marL="7620" marR="7620" marT="7620" marB="0" anchor="ctr"/>
                </a:tc>
                <a:tc>
                  <a:txBody>
                    <a:bodyPr/>
                    <a:lstStyle/>
                    <a:p>
                      <a:pPr algn="ctr" fontAlgn="ctr">
                        <a:buNone/>
                      </a:pPr>
                      <a:r>
                        <a:rPr lang="en-IN" sz="1400" b="0" i="0" u="none" strike="noStrike">
                          <a:solidFill>
                            <a:srgbClr val="000000"/>
                          </a:solidFill>
                          <a:effectLst/>
                          <a:latin typeface="+mj-lt"/>
                        </a:rPr>
                        <a:t>Speech converted to text</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715071617"/>
                  </a:ext>
                </a:extLst>
              </a:tr>
              <a:tr h="503607">
                <a:tc>
                  <a:txBody>
                    <a:bodyPr/>
                    <a:lstStyle/>
                    <a:p>
                      <a:pPr algn="ctr" fontAlgn="ctr">
                        <a:buNone/>
                      </a:pPr>
                      <a:r>
                        <a:rPr lang="en-IN" sz="1400" b="0" i="0" u="none" strike="noStrike">
                          <a:solidFill>
                            <a:srgbClr val="000000"/>
                          </a:solidFill>
                          <a:effectLst/>
                          <a:latin typeface="+mj-lt"/>
                        </a:rPr>
                        <a:t>TC-07</a:t>
                      </a:r>
                    </a:p>
                  </a:txBody>
                  <a:tcPr marL="7620" marR="7620" marT="7620" marB="0" anchor="ctr"/>
                </a:tc>
                <a:tc>
                  <a:txBody>
                    <a:bodyPr/>
                    <a:lstStyle/>
                    <a:p>
                      <a:pPr algn="ctr" fontAlgn="ctr">
                        <a:buNone/>
                      </a:pPr>
                      <a:r>
                        <a:rPr lang="en-IN" sz="1400" b="0" i="0" u="none" strike="noStrike">
                          <a:solidFill>
                            <a:srgbClr val="000000"/>
                          </a:solidFill>
                          <a:effectLst/>
                          <a:latin typeface="+mj-lt"/>
                        </a:rPr>
                        <a:t>Camera</a:t>
                      </a:r>
                    </a:p>
                  </a:txBody>
                  <a:tcPr marL="7620" marR="7620" marT="7620" marB="0" anchor="ctr"/>
                </a:tc>
                <a:tc>
                  <a:txBody>
                    <a:bodyPr/>
                    <a:lstStyle/>
                    <a:p>
                      <a:pPr algn="ctr" fontAlgn="ctr">
                        <a:buNone/>
                      </a:pPr>
                      <a:r>
                        <a:rPr lang="en-IN" sz="1400" b="0" i="0" u="none" strike="noStrike">
                          <a:solidFill>
                            <a:srgbClr val="000000"/>
                          </a:solidFill>
                          <a:effectLst/>
                          <a:latin typeface="+mj-lt"/>
                        </a:rPr>
                        <a:t>Enable webcam</a:t>
                      </a:r>
                    </a:p>
                  </a:txBody>
                  <a:tcPr marL="7620" marR="7620" marT="7620" marB="0" anchor="ctr"/>
                </a:tc>
                <a:tc>
                  <a:txBody>
                    <a:bodyPr/>
                    <a:lstStyle/>
                    <a:p>
                      <a:pPr algn="ctr" fontAlgn="ctr">
                        <a:buNone/>
                      </a:pPr>
                      <a:r>
                        <a:rPr lang="en-IN" sz="1400" b="0" i="0" u="none" strike="noStrike">
                          <a:solidFill>
                            <a:srgbClr val="000000"/>
                          </a:solidFill>
                          <a:effectLst/>
                          <a:latin typeface="+mj-lt"/>
                        </a:rPr>
                        <a:t>Live video feed visible</a:t>
                      </a:r>
                    </a:p>
                  </a:txBody>
                  <a:tcPr marL="7620" marR="7620" marT="7620" marB="0" anchor="ctr"/>
                </a:tc>
                <a:tc>
                  <a:txBody>
                    <a:bodyPr/>
                    <a:lstStyle/>
                    <a:p>
                      <a:pPr algn="ctr" fontAlgn="ctr">
                        <a:buNone/>
                      </a:pPr>
                      <a:r>
                        <a:rPr lang="en-IN" sz="1400" b="0" i="0" u="none" strike="noStrike" dirty="0">
                          <a:solidFill>
                            <a:srgbClr val="000000"/>
                          </a:solidFill>
                          <a:effectLst/>
                          <a:latin typeface="+mj-lt"/>
                        </a:rPr>
                        <a:t>Pass</a:t>
                      </a:r>
                    </a:p>
                  </a:txBody>
                  <a:tcPr marL="7620" marR="7620" marT="7620" marB="0" anchor="ctr"/>
                </a:tc>
                <a:extLst>
                  <a:ext uri="{0D108BD9-81ED-4DB2-BD59-A6C34878D82A}">
                    <a16:rowId xmlns:a16="http://schemas.microsoft.com/office/drawing/2014/main" val="2432276416"/>
                  </a:ext>
                </a:extLst>
              </a:tr>
            </a:tbl>
          </a:graphicData>
        </a:graphic>
      </p:graphicFrame>
    </p:spTree>
    <p:extLst>
      <p:ext uri="{BB962C8B-B14F-4D97-AF65-F5344CB8AC3E}">
        <p14:creationId xmlns:p14="http://schemas.microsoft.com/office/powerpoint/2010/main" val="991022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FC42E-9C4D-2D35-894F-9D70A2C8D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E3B82-EFF8-D272-5146-D6B2217BF066}"/>
              </a:ext>
            </a:extLst>
          </p:cNvPr>
          <p:cNvSpPr>
            <a:spLocks noGrp="1"/>
          </p:cNvSpPr>
          <p:nvPr>
            <p:ph type="title"/>
          </p:nvPr>
        </p:nvSpPr>
        <p:spPr/>
        <p:txBody>
          <a:bodyPr/>
          <a:lstStyle/>
          <a:p>
            <a:r>
              <a:rPr lang="en-IN" altLang="en-US" b="1" dirty="0"/>
              <a:t>TEST CASES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F237EA5-0E31-A08D-8BC0-FC706126C0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IN" smtClean="0"/>
              <a:t>29</a:t>
            </a:fld>
            <a:endParaRPr lang="en-IN"/>
          </a:p>
        </p:txBody>
      </p:sp>
      <p:graphicFrame>
        <p:nvGraphicFramePr>
          <p:cNvPr id="5" name="Table 4">
            <a:extLst>
              <a:ext uri="{FF2B5EF4-FFF2-40B4-BE49-F238E27FC236}">
                <a16:creationId xmlns:a16="http://schemas.microsoft.com/office/drawing/2014/main" id="{9775E326-C429-6D6F-E351-EFD361FD03BC}"/>
              </a:ext>
            </a:extLst>
          </p:cNvPr>
          <p:cNvGraphicFramePr>
            <a:graphicFrameLocks noGrp="1"/>
          </p:cNvGraphicFramePr>
          <p:nvPr>
            <p:extLst>
              <p:ext uri="{D42A27DB-BD31-4B8C-83A1-F6EECF244321}">
                <p14:modId xmlns:p14="http://schemas.microsoft.com/office/powerpoint/2010/main" val="1495494851"/>
              </p:ext>
            </p:extLst>
          </p:nvPr>
        </p:nvGraphicFramePr>
        <p:xfrm>
          <a:off x="753533" y="1523999"/>
          <a:ext cx="10515597" cy="4105064"/>
        </p:xfrm>
        <a:graphic>
          <a:graphicData uri="http://schemas.openxmlformats.org/drawingml/2006/table">
            <a:tbl>
              <a:tblPr firstRow="1" bandRow="1">
                <a:tableStyleId>{5C22544A-7EE6-4342-B048-85BDC9FD1C3A}</a:tableStyleId>
              </a:tblPr>
              <a:tblGrid>
                <a:gridCol w="2103119">
                  <a:extLst>
                    <a:ext uri="{9D8B030D-6E8A-4147-A177-3AD203B41FA5}">
                      <a16:colId xmlns:a16="http://schemas.microsoft.com/office/drawing/2014/main" val="1395156619"/>
                    </a:ext>
                  </a:extLst>
                </a:gridCol>
                <a:gridCol w="2103119">
                  <a:extLst>
                    <a:ext uri="{9D8B030D-6E8A-4147-A177-3AD203B41FA5}">
                      <a16:colId xmlns:a16="http://schemas.microsoft.com/office/drawing/2014/main" val="4260848043"/>
                    </a:ext>
                  </a:extLst>
                </a:gridCol>
                <a:gridCol w="2589775">
                  <a:extLst>
                    <a:ext uri="{9D8B030D-6E8A-4147-A177-3AD203B41FA5}">
                      <a16:colId xmlns:a16="http://schemas.microsoft.com/office/drawing/2014/main" val="3518223101"/>
                    </a:ext>
                  </a:extLst>
                </a:gridCol>
                <a:gridCol w="2422554">
                  <a:extLst>
                    <a:ext uri="{9D8B030D-6E8A-4147-A177-3AD203B41FA5}">
                      <a16:colId xmlns:a16="http://schemas.microsoft.com/office/drawing/2014/main" val="1502742030"/>
                    </a:ext>
                  </a:extLst>
                </a:gridCol>
                <a:gridCol w="1297030">
                  <a:extLst>
                    <a:ext uri="{9D8B030D-6E8A-4147-A177-3AD203B41FA5}">
                      <a16:colId xmlns:a16="http://schemas.microsoft.com/office/drawing/2014/main" val="3372678528"/>
                    </a:ext>
                  </a:extLst>
                </a:gridCol>
              </a:tblGrid>
              <a:tr h="513133">
                <a:tc>
                  <a:txBody>
                    <a:bodyPr/>
                    <a:lstStyle/>
                    <a:p>
                      <a:pPr algn="ctr" fontAlgn="ctr">
                        <a:buNone/>
                      </a:pPr>
                      <a:r>
                        <a:rPr lang="en-IN" sz="1400" b="1" i="0" u="none" strike="noStrike" dirty="0">
                          <a:solidFill>
                            <a:srgbClr val="000000"/>
                          </a:solidFill>
                          <a:effectLst/>
                          <a:latin typeface="+mj-lt"/>
                        </a:rPr>
                        <a:t>TC ID</a:t>
                      </a:r>
                    </a:p>
                  </a:txBody>
                  <a:tcPr marL="7620" marR="7620" marT="7620" marB="0" anchor="ctr"/>
                </a:tc>
                <a:tc>
                  <a:txBody>
                    <a:bodyPr/>
                    <a:lstStyle/>
                    <a:p>
                      <a:pPr algn="ctr" fontAlgn="ctr">
                        <a:buNone/>
                      </a:pPr>
                      <a:r>
                        <a:rPr lang="en-IN" sz="1400" b="1" i="0" u="none" strike="noStrike">
                          <a:solidFill>
                            <a:srgbClr val="000000"/>
                          </a:solidFill>
                          <a:effectLst/>
                          <a:latin typeface="+mj-lt"/>
                        </a:rPr>
                        <a:t>Module</a:t>
                      </a:r>
                    </a:p>
                  </a:txBody>
                  <a:tcPr marL="7620" marR="7620" marT="7620" marB="0" anchor="ctr"/>
                </a:tc>
                <a:tc>
                  <a:txBody>
                    <a:bodyPr/>
                    <a:lstStyle/>
                    <a:p>
                      <a:pPr algn="ctr" fontAlgn="ctr">
                        <a:buNone/>
                      </a:pPr>
                      <a:r>
                        <a:rPr lang="en-IN" sz="1400" b="1" i="0" u="none" strike="noStrike">
                          <a:solidFill>
                            <a:srgbClr val="000000"/>
                          </a:solidFill>
                          <a:effectLst/>
                          <a:latin typeface="+mj-lt"/>
                        </a:rPr>
                        <a:t>Test Case Description</a:t>
                      </a:r>
                    </a:p>
                  </a:txBody>
                  <a:tcPr marL="7620" marR="7620" marT="7620" marB="0" anchor="ctr"/>
                </a:tc>
                <a:tc>
                  <a:txBody>
                    <a:bodyPr/>
                    <a:lstStyle/>
                    <a:p>
                      <a:pPr algn="ctr" fontAlgn="ctr">
                        <a:buNone/>
                      </a:pPr>
                      <a:r>
                        <a:rPr lang="en-IN" sz="1400" b="1" i="0" u="none" strike="noStrike">
                          <a:solidFill>
                            <a:srgbClr val="000000"/>
                          </a:solidFill>
                          <a:effectLst/>
                          <a:latin typeface="+mj-lt"/>
                        </a:rPr>
                        <a:t>Expected Result</a:t>
                      </a:r>
                    </a:p>
                  </a:txBody>
                  <a:tcPr marL="7620" marR="7620" marT="7620" marB="0" anchor="ctr"/>
                </a:tc>
                <a:tc>
                  <a:txBody>
                    <a:bodyPr/>
                    <a:lstStyle/>
                    <a:p>
                      <a:pPr algn="ctr" fontAlgn="ctr">
                        <a:buNone/>
                      </a:pPr>
                      <a:r>
                        <a:rPr lang="en-IN" sz="1400" b="1" i="0" u="none" strike="noStrike" dirty="0">
                          <a:solidFill>
                            <a:srgbClr val="000000"/>
                          </a:solidFill>
                          <a:effectLst/>
                          <a:latin typeface="+mj-lt"/>
                        </a:rPr>
                        <a:t>Status</a:t>
                      </a:r>
                    </a:p>
                  </a:txBody>
                  <a:tcPr marL="7620" marR="7620" marT="7620" marB="0" anchor="ctr"/>
                </a:tc>
                <a:extLst>
                  <a:ext uri="{0D108BD9-81ED-4DB2-BD59-A6C34878D82A}">
                    <a16:rowId xmlns:a16="http://schemas.microsoft.com/office/drawing/2014/main" val="874415342"/>
                  </a:ext>
                </a:extLst>
              </a:tr>
              <a:tr h="513133">
                <a:tc>
                  <a:txBody>
                    <a:bodyPr/>
                    <a:lstStyle/>
                    <a:p>
                      <a:pPr algn="ctr" fontAlgn="ctr">
                        <a:buNone/>
                      </a:pPr>
                      <a:r>
                        <a:rPr lang="en-IN" sz="1400" b="0" i="0" u="none" strike="noStrike">
                          <a:solidFill>
                            <a:srgbClr val="000000"/>
                          </a:solidFill>
                          <a:effectLst/>
                          <a:latin typeface="+mj-lt"/>
                        </a:rPr>
                        <a:t>TC-08</a:t>
                      </a:r>
                    </a:p>
                  </a:txBody>
                  <a:tcPr marL="7620" marR="7620" marT="7620" marB="0" anchor="ctr"/>
                </a:tc>
                <a:tc>
                  <a:txBody>
                    <a:bodyPr/>
                    <a:lstStyle/>
                    <a:p>
                      <a:pPr algn="ctr" fontAlgn="ctr">
                        <a:buNone/>
                      </a:pPr>
                      <a:r>
                        <a:rPr lang="en-IN" sz="1400" b="0" i="0" u="none" strike="noStrike">
                          <a:solidFill>
                            <a:srgbClr val="000000"/>
                          </a:solidFill>
                          <a:effectLst/>
                          <a:latin typeface="+mj-lt"/>
                        </a:rPr>
                        <a:t>Emotion</a:t>
                      </a:r>
                    </a:p>
                  </a:txBody>
                  <a:tcPr marL="7620" marR="7620" marT="7620" marB="0" anchor="ctr"/>
                </a:tc>
                <a:tc>
                  <a:txBody>
                    <a:bodyPr/>
                    <a:lstStyle/>
                    <a:p>
                      <a:pPr algn="ctr" fontAlgn="ctr">
                        <a:buNone/>
                      </a:pPr>
                      <a:r>
                        <a:rPr lang="en-IN" sz="1400" b="0" i="0" u="none" strike="noStrike">
                          <a:solidFill>
                            <a:srgbClr val="000000"/>
                          </a:solidFill>
                          <a:effectLst/>
                          <a:latin typeface="+mj-lt"/>
                        </a:rPr>
                        <a:t>Face emotion detection</a:t>
                      </a:r>
                    </a:p>
                  </a:txBody>
                  <a:tcPr marL="7620" marR="7620" marT="7620" marB="0" anchor="ctr"/>
                </a:tc>
                <a:tc>
                  <a:txBody>
                    <a:bodyPr/>
                    <a:lstStyle/>
                    <a:p>
                      <a:pPr algn="ctr" fontAlgn="ctr">
                        <a:buNone/>
                      </a:pPr>
                      <a:r>
                        <a:rPr lang="en-IN" sz="1400" b="0" i="0" u="none" strike="noStrike">
                          <a:solidFill>
                            <a:srgbClr val="000000"/>
                          </a:solidFill>
                          <a:effectLst/>
                          <a:latin typeface="+mj-lt"/>
                        </a:rPr>
                        <a:t>Emotion detected in real-time</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79356252"/>
                  </a:ext>
                </a:extLst>
              </a:tr>
              <a:tr h="513133">
                <a:tc>
                  <a:txBody>
                    <a:bodyPr/>
                    <a:lstStyle/>
                    <a:p>
                      <a:pPr algn="ctr" fontAlgn="ctr">
                        <a:buNone/>
                      </a:pPr>
                      <a:r>
                        <a:rPr lang="en-IN" sz="1400" b="0" i="0" u="none" strike="noStrike" dirty="0">
                          <a:solidFill>
                            <a:srgbClr val="000000"/>
                          </a:solidFill>
                          <a:effectLst/>
                          <a:latin typeface="+mj-lt"/>
                        </a:rPr>
                        <a:t>TC-09</a:t>
                      </a:r>
                    </a:p>
                  </a:txBody>
                  <a:tcPr marL="7620" marR="7620" marT="7620" marB="0" anchor="ctr"/>
                </a:tc>
                <a:tc>
                  <a:txBody>
                    <a:bodyPr/>
                    <a:lstStyle/>
                    <a:p>
                      <a:pPr algn="ctr" fontAlgn="ctr">
                        <a:buNone/>
                      </a:pPr>
                      <a:r>
                        <a:rPr lang="en-IN" sz="1400" b="0" i="0" u="none" strike="noStrike">
                          <a:solidFill>
                            <a:srgbClr val="000000"/>
                          </a:solidFill>
                          <a:effectLst/>
                          <a:latin typeface="+mj-lt"/>
                        </a:rPr>
                        <a:t>AI Analysis</a:t>
                      </a:r>
                    </a:p>
                  </a:txBody>
                  <a:tcPr marL="7620" marR="7620" marT="7620" marB="0" anchor="ctr"/>
                </a:tc>
                <a:tc>
                  <a:txBody>
                    <a:bodyPr/>
                    <a:lstStyle/>
                    <a:p>
                      <a:pPr algn="ctr" fontAlgn="ctr">
                        <a:buNone/>
                      </a:pPr>
                      <a:r>
                        <a:rPr lang="en-IN" sz="1400" b="0" i="0" u="none" strike="noStrike">
                          <a:solidFill>
                            <a:srgbClr val="000000"/>
                          </a:solidFill>
                          <a:effectLst/>
                          <a:latin typeface="+mj-lt"/>
                        </a:rPr>
                        <a:t>Emotion → confidence mapping</a:t>
                      </a:r>
                    </a:p>
                  </a:txBody>
                  <a:tcPr marL="7620" marR="7620" marT="7620" marB="0" anchor="ctr"/>
                </a:tc>
                <a:tc>
                  <a:txBody>
                    <a:bodyPr/>
                    <a:lstStyle/>
                    <a:p>
                      <a:pPr algn="ctr" fontAlgn="ctr">
                        <a:buNone/>
                      </a:pPr>
                      <a:r>
                        <a:rPr lang="en-IN" sz="1400" b="0" i="0" u="none" strike="noStrike">
                          <a:solidFill>
                            <a:srgbClr val="000000"/>
                          </a:solidFill>
                          <a:effectLst/>
                          <a:latin typeface="+mj-lt"/>
                        </a:rPr>
                        <a:t>Confidence score updated</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965208935"/>
                  </a:ext>
                </a:extLst>
              </a:tr>
              <a:tr h="513133">
                <a:tc>
                  <a:txBody>
                    <a:bodyPr/>
                    <a:lstStyle/>
                    <a:p>
                      <a:pPr algn="ctr" fontAlgn="ctr">
                        <a:buNone/>
                      </a:pPr>
                      <a:r>
                        <a:rPr lang="en-IN" sz="1400" b="0" i="0" u="none" strike="noStrike">
                          <a:solidFill>
                            <a:srgbClr val="000000"/>
                          </a:solidFill>
                          <a:effectLst/>
                          <a:latin typeface="+mj-lt"/>
                        </a:rPr>
                        <a:t>TC-10</a:t>
                      </a:r>
                    </a:p>
                  </a:txBody>
                  <a:tcPr marL="7620" marR="7620" marT="7620" marB="0" anchor="ctr"/>
                </a:tc>
                <a:tc>
                  <a:txBody>
                    <a:bodyPr/>
                    <a:lstStyle/>
                    <a:p>
                      <a:pPr algn="ctr" fontAlgn="ctr">
                        <a:buNone/>
                      </a:pPr>
                      <a:r>
                        <a:rPr lang="en-IN" sz="1400" b="0" i="0" u="none" strike="noStrike">
                          <a:solidFill>
                            <a:srgbClr val="000000"/>
                          </a:solidFill>
                          <a:effectLst/>
                          <a:latin typeface="+mj-lt"/>
                        </a:rPr>
                        <a:t>Timer</a:t>
                      </a:r>
                    </a:p>
                  </a:txBody>
                  <a:tcPr marL="7620" marR="7620" marT="7620" marB="0" anchor="ctr"/>
                </a:tc>
                <a:tc>
                  <a:txBody>
                    <a:bodyPr/>
                    <a:lstStyle/>
                    <a:p>
                      <a:pPr algn="ctr" fontAlgn="ctr">
                        <a:buNone/>
                      </a:pPr>
                      <a:r>
                        <a:rPr lang="en-IN" sz="1400" b="0" i="0" u="none" strike="noStrike">
                          <a:solidFill>
                            <a:srgbClr val="000000"/>
                          </a:solidFill>
                          <a:effectLst/>
                          <a:latin typeface="+mj-lt"/>
                        </a:rPr>
                        <a:t>Interview timer expiry</a:t>
                      </a:r>
                    </a:p>
                  </a:txBody>
                  <a:tcPr marL="7620" marR="7620" marT="7620" marB="0" anchor="ctr"/>
                </a:tc>
                <a:tc>
                  <a:txBody>
                    <a:bodyPr/>
                    <a:lstStyle/>
                    <a:p>
                      <a:pPr algn="ctr" fontAlgn="ctr">
                        <a:buNone/>
                      </a:pPr>
                      <a:r>
                        <a:rPr lang="en-IN" sz="1400" b="0" i="0" u="none" strike="noStrike">
                          <a:solidFill>
                            <a:srgbClr val="000000"/>
                          </a:solidFill>
                          <a:effectLst/>
                          <a:latin typeface="+mj-lt"/>
                        </a:rPr>
                        <a:t>Interview auto-ends</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304668580"/>
                  </a:ext>
                </a:extLst>
              </a:tr>
              <a:tr h="513133">
                <a:tc>
                  <a:txBody>
                    <a:bodyPr/>
                    <a:lstStyle/>
                    <a:p>
                      <a:pPr algn="ctr" fontAlgn="ctr">
                        <a:buNone/>
                      </a:pPr>
                      <a:r>
                        <a:rPr lang="en-IN" sz="1400" b="0" i="0" u="none" strike="noStrike">
                          <a:solidFill>
                            <a:srgbClr val="000000"/>
                          </a:solidFill>
                          <a:effectLst/>
                          <a:latin typeface="+mj-lt"/>
                        </a:rPr>
                        <a:t>TC-11</a:t>
                      </a:r>
                    </a:p>
                  </a:txBody>
                  <a:tcPr marL="7620" marR="7620" marT="7620" marB="0" anchor="ctr"/>
                </a:tc>
                <a:tc>
                  <a:txBody>
                    <a:bodyPr/>
                    <a:lstStyle/>
                    <a:p>
                      <a:pPr algn="ctr" fontAlgn="ctr">
                        <a:buNone/>
                      </a:pPr>
                      <a:r>
                        <a:rPr lang="en-IN" sz="1400" b="0" i="0" u="none" strike="noStrike">
                          <a:solidFill>
                            <a:srgbClr val="000000"/>
                          </a:solidFill>
                          <a:effectLst/>
                          <a:latin typeface="+mj-lt"/>
                        </a:rPr>
                        <a:t>Submission</a:t>
                      </a:r>
                    </a:p>
                  </a:txBody>
                  <a:tcPr marL="7620" marR="7620" marT="7620" marB="0" anchor="ctr"/>
                </a:tc>
                <a:tc>
                  <a:txBody>
                    <a:bodyPr/>
                    <a:lstStyle/>
                    <a:p>
                      <a:pPr algn="ctr" fontAlgn="ctr">
                        <a:buNone/>
                      </a:pPr>
                      <a:r>
                        <a:rPr lang="en-IN" sz="1400" b="0" i="0" u="none" strike="noStrike" dirty="0">
                          <a:solidFill>
                            <a:srgbClr val="000000"/>
                          </a:solidFill>
                          <a:effectLst/>
                          <a:latin typeface="+mj-lt"/>
                        </a:rPr>
                        <a:t>Submit answer</a:t>
                      </a:r>
                    </a:p>
                  </a:txBody>
                  <a:tcPr marL="7620" marR="7620" marT="7620" marB="0" anchor="ctr"/>
                </a:tc>
                <a:tc>
                  <a:txBody>
                    <a:bodyPr/>
                    <a:lstStyle/>
                    <a:p>
                      <a:pPr algn="ctr" fontAlgn="ctr">
                        <a:buNone/>
                      </a:pPr>
                      <a:r>
                        <a:rPr lang="en-IN" sz="1400" b="0" i="0" u="none" strike="noStrike">
                          <a:solidFill>
                            <a:srgbClr val="000000"/>
                          </a:solidFill>
                          <a:effectLst/>
                          <a:latin typeface="+mj-lt"/>
                        </a:rPr>
                        <a:t>Submission recorded</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23823613"/>
                  </a:ext>
                </a:extLst>
              </a:tr>
              <a:tr h="513133">
                <a:tc>
                  <a:txBody>
                    <a:bodyPr/>
                    <a:lstStyle/>
                    <a:p>
                      <a:pPr algn="ctr" fontAlgn="ctr">
                        <a:buNone/>
                      </a:pPr>
                      <a:r>
                        <a:rPr lang="en-IN" sz="1400" b="0" i="0" u="none" strike="noStrike">
                          <a:solidFill>
                            <a:srgbClr val="000000"/>
                          </a:solidFill>
                          <a:effectLst/>
                          <a:latin typeface="+mj-lt"/>
                        </a:rPr>
                        <a:t>TC-12</a:t>
                      </a:r>
                    </a:p>
                  </a:txBody>
                  <a:tcPr marL="7620" marR="7620" marT="7620" marB="0" anchor="ctr"/>
                </a:tc>
                <a:tc>
                  <a:txBody>
                    <a:bodyPr/>
                    <a:lstStyle/>
                    <a:p>
                      <a:pPr algn="ctr" fontAlgn="ctr">
                        <a:buNone/>
                      </a:pPr>
                      <a:r>
                        <a:rPr lang="en-IN" sz="1400" b="0" i="0" u="none" strike="noStrike">
                          <a:solidFill>
                            <a:srgbClr val="000000"/>
                          </a:solidFill>
                          <a:effectLst/>
                          <a:latin typeface="+mj-lt"/>
                        </a:rPr>
                        <a:t>Feedback</a:t>
                      </a:r>
                    </a:p>
                  </a:txBody>
                  <a:tcPr marL="7620" marR="7620" marT="7620" marB="0" anchor="ctr"/>
                </a:tc>
                <a:tc>
                  <a:txBody>
                    <a:bodyPr/>
                    <a:lstStyle/>
                    <a:p>
                      <a:pPr algn="ctr" fontAlgn="ctr">
                        <a:buNone/>
                      </a:pPr>
                      <a:r>
                        <a:rPr lang="en-IN" sz="1400" b="0" i="0" u="none" strike="noStrike">
                          <a:solidFill>
                            <a:srgbClr val="000000"/>
                          </a:solidFill>
                          <a:effectLst/>
                          <a:latin typeface="+mj-lt"/>
                        </a:rPr>
                        <a:t>Generate interview summary</a:t>
                      </a:r>
                    </a:p>
                  </a:txBody>
                  <a:tcPr marL="7620" marR="7620" marT="7620" marB="0" anchor="ctr"/>
                </a:tc>
                <a:tc>
                  <a:txBody>
                    <a:bodyPr/>
                    <a:lstStyle/>
                    <a:p>
                      <a:pPr algn="ctr" fontAlgn="ctr">
                        <a:buNone/>
                      </a:pPr>
                      <a:r>
                        <a:rPr lang="en-IN" sz="1400" b="0" i="0" u="none" strike="noStrike">
                          <a:solidFill>
                            <a:srgbClr val="000000"/>
                          </a:solidFill>
                          <a:effectLst/>
                          <a:latin typeface="+mj-lt"/>
                        </a:rPr>
                        <a:t>AI feedback displayed</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490272429"/>
                  </a:ext>
                </a:extLst>
              </a:tr>
              <a:tr h="513133">
                <a:tc>
                  <a:txBody>
                    <a:bodyPr/>
                    <a:lstStyle/>
                    <a:p>
                      <a:pPr algn="ctr" fontAlgn="ctr">
                        <a:buNone/>
                      </a:pPr>
                      <a:r>
                        <a:rPr lang="en-IN" sz="1400" b="0" i="0" u="none" strike="noStrike">
                          <a:solidFill>
                            <a:srgbClr val="000000"/>
                          </a:solidFill>
                          <a:effectLst/>
                          <a:latin typeface="+mj-lt"/>
                        </a:rPr>
                        <a:t>TC-13</a:t>
                      </a:r>
                    </a:p>
                  </a:txBody>
                  <a:tcPr marL="7620" marR="7620" marT="7620" marB="0" anchor="ctr"/>
                </a:tc>
                <a:tc>
                  <a:txBody>
                    <a:bodyPr/>
                    <a:lstStyle/>
                    <a:p>
                      <a:pPr algn="ctr" fontAlgn="ctr">
                        <a:buNone/>
                      </a:pPr>
                      <a:r>
                        <a:rPr lang="en-IN" sz="1400" b="0" i="0" u="none" strike="noStrike">
                          <a:solidFill>
                            <a:srgbClr val="000000"/>
                          </a:solidFill>
                          <a:effectLst/>
                          <a:latin typeface="+mj-lt"/>
                        </a:rPr>
                        <a:t>Report</a:t>
                      </a:r>
                    </a:p>
                  </a:txBody>
                  <a:tcPr marL="7620" marR="7620" marT="7620" marB="0" anchor="ctr"/>
                </a:tc>
                <a:tc>
                  <a:txBody>
                    <a:bodyPr/>
                    <a:lstStyle/>
                    <a:p>
                      <a:pPr algn="ctr" fontAlgn="ctr">
                        <a:buNone/>
                      </a:pPr>
                      <a:r>
                        <a:rPr lang="en-IN" sz="1400" b="0" i="0" u="none" strike="noStrike">
                          <a:solidFill>
                            <a:srgbClr val="000000"/>
                          </a:solidFill>
                          <a:effectLst/>
                          <a:latin typeface="+mj-lt"/>
                        </a:rPr>
                        <a:t>Download PDF report</a:t>
                      </a:r>
                    </a:p>
                  </a:txBody>
                  <a:tcPr marL="7620" marR="7620" marT="7620" marB="0" anchor="ctr"/>
                </a:tc>
                <a:tc>
                  <a:txBody>
                    <a:bodyPr/>
                    <a:lstStyle/>
                    <a:p>
                      <a:pPr algn="ctr" fontAlgn="ctr">
                        <a:buNone/>
                      </a:pPr>
                      <a:r>
                        <a:rPr lang="en-IN" sz="1400" b="0" i="0" u="none" strike="noStrike">
                          <a:solidFill>
                            <a:srgbClr val="000000"/>
                          </a:solidFill>
                          <a:effectLst/>
                          <a:latin typeface="+mj-lt"/>
                        </a:rPr>
                        <a:t>PDF downloaded successfully</a:t>
                      </a:r>
                    </a:p>
                  </a:txBody>
                  <a:tcPr marL="7620" marR="7620" marT="7620" marB="0" anchor="ctr"/>
                </a:tc>
                <a:tc>
                  <a:txBody>
                    <a:bodyPr/>
                    <a:lstStyle/>
                    <a:p>
                      <a:pPr algn="ctr" fontAlgn="ctr">
                        <a:buNone/>
                      </a:pPr>
                      <a:r>
                        <a:rPr lang="en-IN" sz="1400" b="0" i="0" u="none" strike="noStrike">
                          <a:solidFill>
                            <a:srgbClr val="000000"/>
                          </a:solidFill>
                          <a:effectLst/>
                          <a:latin typeface="+mj-lt"/>
                        </a:rPr>
                        <a:t>Pass</a:t>
                      </a:r>
                    </a:p>
                  </a:txBody>
                  <a:tcPr marL="7620" marR="7620" marT="7620" marB="0" anchor="ctr"/>
                </a:tc>
                <a:extLst>
                  <a:ext uri="{0D108BD9-81ED-4DB2-BD59-A6C34878D82A}">
                    <a16:rowId xmlns:a16="http://schemas.microsoft.com/office/drawing/2014/main" val="2715071617"/>
                  </a:ext>
                </a:extLst>
              </a:tr>
              <a:tr h="513133">
                <a:tc>
                  <a:txBody>
                    <a:bodyPr/>
                    <a:lstStyle/>
                    <a:p>
                      <a:pPr algn="ctr" fontAlgn="ctr">
                        <a:buNone/>
                      </a:pPr>
                      <a:r>
                        <a:rPr lang="en-IN" sz="1400" b="0" i="0" u="none" strike="noStrike">
                          <a:solidFill>
                            <a:srgbClr val="000000"/>
                          </a:solidFill>
                          <a:effectLst/>
                          <a:latin typeface="+mj-lt"/>
                        </a:rPr>
                        <a:t>TC-14</a:t>
                      </a:r>
                    </a:p>
                  </a:txBody>
                  <a:tcPr marL="7620" marR="7620" marT="7620" marB="0" anchor="ctr"/>
                </a:tc>
                <a:tc>
                  <a:txBody>
                    <a:bodyPr/>
                    <a:lstStyle/>
                    <a:p>
                      <a:pPr algn="ctr" fontAlgn="ctr">
                        <a:buNone/>
                      </a:pPr>
                      <a:r>
                        <a:rPr lang="en-IN" sz="1400" b="0" i="0" u="none" strike="noStrike">
                          <a:solidFill>
                            <a:srgbClr val="000000"/>
                          </a:solidFill>
                          <a:effectLst/>
                          <a:latin typeface="+mj-lt"/>
                        </a:rPr>
                        <a:t>Profile</a:t>
                      </a:r>
                    </a:p>
                  </a:txBody>
                  <a:tcPr marL="7620" marR="7620" marT="7620" marB="0" anchor="ctr"/>
                </a:tc>
                <a:tc>
                  <a:txBody>
                    <a:bodyPr/>
                    <a:lstStyle/>
                    <a:p>
                      <a:pPr algn="ctr" fontAlgn="ctr">
                        <a:buNone/>
                      </a:pPr>
                      <a:r>
                        <a:rPr lang="en-IN" sz="1400" b="0" i="0" u="none" strike="noStrike">
                          <a:solidFill>
                            <a:srgbClr val="000000"/>
                          </a:solidFill>
                          <a:effectLst/>
                          <a:latin typeface="+mj-lt"/>
                        </a:rPr>
                        <a:t>Edit name/email/photo</a:t>
                      </a:r>
                    </a:p>
                  </a:txBody>
                  <a:tcPr marL="7620" marR="7620" marT="7620" marB="0" anchor="ctr"/>
                </a:tc>
                <a:tc>
                  <a:txBody>
                    <a:bodyPr/>
                    <a:lstStyle/>
                    <a:p>
                      <a:pPr algn="ctr" fontAlgn="ctr">
                        <a:buNone/>
                      </a:pPr>
                      <a:r>
                        <a:rPr lang="en-IN" sz="1400" b="0" i="0" u="none" strike="noStrike">
                          <a:solidFill>
                            <a:srgbClr val="000000"/>
                          </a:solidFill>
                          <a:effectLst/>
                          <a:latin typeface="+mj-lt"/>
                        </a:rPr>
                        <a:t>Profile updated</a:t>
                      </a:r>
                    </a:p>
                  </a:txBody>
                  <a:tcPr marL="7620" marR="7620" marT="7620" marB="0" anchor="ctr"/>
                </a:tc>
                <a:tc>
                  <a:txBody>
                    <a:bodyPr/>
                    <a:lstStyle/>
                    <a:p>
                      <a:pPr algn="ctr" fontAlgn="ctr">
                        <a:buNone/>
                      </a:pPr>
                      <a:r>
                        <a:rPr lang="en-IN" sz="1400" b="0" i="0" u="none" strike="noStrike" dirty="0">
                          <a:solidFill>
                            <a:srgbClr val="000000"/>
                          </a:solidFill>
                          <a:effectLst/>
                          <a:latin typeface="+mj-lt"/>
                        </a:rPr>
                        <a:t>Pass</a:t>
                      </a:r>
                    </a:p>
                  </a:txBody>
                  <a:tcPr marL="7620" marR="7620" marT="7620" marB="0" anchor="ctr"/>
                </a:tc>
                <a:extLst>
                  <a:ext uri="{0D108BD9-81ED-4DB2-BD59-A6C34878D82A}">
                    <a16:rowId xmlns:a16="http://schemas.microsoft.com/office/drawing/2014/main" val="2432276416"/>
                  </a:ext>
                </a:extLst>
              </a:tr>
            </a:tbl>
          </a:graphicData>
        </a:graphic>
      </p:graphicFrame>
    </p:spTree>
    <p:extLst>
      <p:ext uri="{BB962C8B-B14F-4D97-AF65-F5344CB8AC3E}">
        <p14:creationId xmlns:p14="http://schemas.microsoft.com/office/powerpoint/2010/main" val="2226230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703F4-1516-4B3B-E349-5766EF3C46A8}"/>
              </a:ext>
            </a:extLst>
          </p:cNvPr>
          <p:cNvSpPr>
            <a:spLocks noGrp="1"/>
          </p:cNvSpPr>
          <p:nvPr>
            <p:ph type="title"/>
          </p:nvPr>
        </p:nvSpPr>
        <p:spPr/>
        <p:txBody>
          <a:bodyPr>
            <a:normAutofit/>
          </a:bodyPr>
          <a:lstStyle/>
          <a:p>
            <a:r>
              <a:rPr lang="en-IN" sz="3600" b="1" dirty="0">
                <a:latin typeface="+mj-lt"/>
              </a:rPr>
              <a:t>OUTPUT</a:t>
            </a:r>
          </a:p>
        </p:txBody>
      </p:sp>
      <p:sp>
        <p:nvSpPr>
          <p:cNvPr id="3" name="Text Placeholder 2">
            <a:extLst>
              <a:ext uri="{FF2B5EF4-FFF2-40B4-BE49-F238E27FC236}">
                <a16:creationId xmlns:a16="http://schemas.microsoft.com/office/drawing/2014/main" id="{C2E1BE3F-4270-F528-DB40-54E0C0710622}"/>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7ABAF6F6-EAE3-D400-EEA7-188A3BC0C544}"/>
              </a:ext>
            </a:extLst>
          </p:cNvPr>
          <p:cNvSpPr>
            <a:spLocks noGrp="1"/>
          </p:cNvSpPr>
          <p:nvPr>
            <p:ph type="body" idx="2"/>
          </p:nvPr>
        </p:nvSpPr>
        <p:spPr/>
        <p:txBody>
          <a:bodyPr/>
          <a:lstStyle/>
          <a:p>
            <a:endParaRPr lang="en-IN"/>
          </a:p>
        </p:txBody>
      </p:sp>
      <p:sp>
        <p:nvSpPr>
          <p:cNvPr id="5" name="Slide Number Placeholder 4">
            <a:extLst>
              <a:ext uri="{FF2B5EF4-FFF2-40B4-BE49-F238E27FC236}">
                <a16:creationId xmlns:a16="http://schemas.microsoft.com/office/drawing/2014/main" id="{8123DCD2-55A1-7368-4417-8A49D50F93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30</a:t>
            </a:fld>
            <a:endParaRPr lang="en-IN"/>
          </a:p>
        </p:txBody>
      </p:sp>
    </p:spTree>
    <p:extLst>
      <p:ext uri="{BB962C8B-B14F-4D97-AF65-F5344CB8AC3E}">
        <p14:creationId xmlns:p14="http://schemas.microsoft.com/office/powerpoint/2010/main" val="2043124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B2D7-9985-74B9-7E05-9464AF1EB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AA054-6A44-3869-5C54-DBDB54DA6102}"/>
              </a:ext>
            </a:extLst>
          </p:cNvPr>
          <p:cNvSpPr>
            <a:spLocks noGrp="1"/>
          </p:cNvSpPr>
          <p:nvPr>
            <p:ph type="title"/>
          </p:nvPr>
        </p:nvSpPr>
        <p:spPr/>
        <p:txBody>
          <a:bodyPr>
            <a:normAutofit/>
          </a:bodyPr>
          <a:lstStyle/>
          <a:p>
            <a:r>
              <a:rPr lang="en-IN" sz="3600" b="1" dirty="0">
                <a:latin typeface="+mj-lt"/>
              </a:rPr>
              <a:t>OUTPUT</a:t>
            </a:r>
          </a:p>
        </p:txBody>
      </p:sp>
      <p:sp>
        <p:nvSpPr>
          <p:cNvPr id="3" name="Text Placeholder 2">
            <a:extLst>
              <a:ext uri="{FF2B5EF4-FFF2-40B4-BE49-F238E27FC236}">
                <a16:creationId xmlns:a16="http://schemas.microsoft.com/office/drawing/2014/main" id="{08F805C6-DF41-04A7-6B80-5816ED2C3FE7}"/>
              </a:ext>
            </a:extLst>
          </p:cNvPr>
          <p:cNvSpPr>
            <a:spLocks noGrp="1"/>
          </p:cNvSpPr>
          <p:nvPr>
            <p:ph type="body" idx="1"/>
          </p:nvPr>
        </p:nvSpPr>
        <p:spPr/>
        <p:txBody>
          <a:bodyPr/>
          <a:lstStyle/>
          <a:p>
            <a:endParaRPr lang="en-IN" dirty="0"/>
          </a:p>
        </p:txBody>
      </p:sp>
      <p:sp>
        <p:nvSpPr>
          <p:cNvPr id="4" name="Text Placeholder 3">
            <a:extLst>
              <a:ext uri="{FF2B5EF4-FFF2-40B4-BE49-F238E27FC236}">
                <a16:creationId xmlns:a16="http://schemas.microsoft.com/office/drawing/2014/main" id="{F87A206A-9576-A8E6-1643-5B53B3CEB5B3}"/>
              </a:ext>
            </a:extLst>
          </p:cNvPr>
          <p:cNvSpPr>
            <a:spLocks noGrp="1"/>
          </p:cNvSpPr>
          <p:nvPr>
            <p:ph type="body" idx="2"/>
          </p:nvPr>
        </p:nvSpPr>
        <p:spPr/>
        <p:txBody>
          <a:bodyPr/>
          <a:lstStyle/>
          <a:p>
            <a:endParaRPr lang="en-IN"/>
          </a:p>
        </p:txBody>
      </p:sp>
      <p:sp>
        <p:nvSpPr>
          <p:cNvPr id="5" name="Slide Number Placeholder 4">
            <a:extLst>
              <a:ext uri="{FF2B5EF4-FFF2-40B4-BE49-F238E27FC236}">
                <a16:creationId xmlns:a16="http://schemas.microsoft.com/office/drawing/2014/main" id="{74BE709E-C0FD-18A4-9D51-FF2211A4AA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31</a:t>
            </a:fld>
            <a:endParaRPr lang="en-IN"/>
          </a:p>
        </p:txBody>
      </p:sp>
    </p:spTree>
    <p:extLst>
      <p:ext uri="{BB962C8B-B14F-4D97-AF65-F5344CB8AC3E}">
        <p14:creationId xmlns:p14="http://schemas.microsoft.com/office/powerpoint/2010/main" val="1439064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4BC6-B3AA-50F8-FE3C-8D169A923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80429-5F8E-F038-0E6D-DD90634567D8}"/>
              </a:ext>
            </a:extLst>
          </p:cNvPr>
          <p:cNvSpPr>
            <a:spLocks noGrp="1"/>
          </p:cNvSpPr>
          <p:nvPr>
            <p:ph type="title"/>
          </p:nvPr>
        </p:nvSpPr>
        <p:spPr/>
        <p:txBody>
          <a:bodyPr>
            <a:normAutofit/>
          </a:bodyPr>
          <a:lstStyle/>
          <a:p>
            <a:r>
              <a:rPr lang="en-IN" sz="3600" b="1" dirty="0">
                <a:latin typeface="+mj-lt"/>
              </a:rPr>
              <a:t>OUTPUT</a:t>
            </a:r>
          </a:p>
        </p:txBody>
      </p:sp>
      <p:sp>
        <p:nvSpPr>
          <p:cNvPr id="3" name="Text Placeholder 2">
            <a:extLst>
              <a:ext uri="{FF2B5EF4-FFF2-40B4-BE49-F238E27FC236}">
                <a16:creationId xmlns:a16="http://schemas.microsoft.com/office/drawing/2014/main" id="{E7F30A9B-2528-0A28-8865-15A20229101B}"/>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35D4A916-B559-D8C2-25B0-84FF1EA05011}"/>
              </a:ext>
            </a:extLst>
          </p:cNvPr>
          <p:cNvSpPr>
            <a:spLocks noGrp="1"/>
          </p:cNvSpPr>
          <p:nvPr>
            <p:ph type="body" idx="2"/>
          </p:nvPr>
        </p:nvSpPr>
        <p:spPr/>
        <p:txBody>
          <a:bodyPr/>
          <a:lstStyle/>
          <a:p>
            <a:endParaRPr lang="en-IN"/>
          </a:p>
        </p:txBody>
      </p:sp>
      <p:sp>
        <p:nvSpPr>
          <p:cNvPr id="5" name="Slide Number Placeholder 4">
            <a:extLst>
              <a:ext uri="{FF2B5EF4-FFF2-40B4-BE49-F238E27FC236}">
                <a16:creationId xmlns:a16="http://schemas.microsoft.com/office/drawing/2014/main" id="{E983FD50-3F47-944A-27EB-27D59F3B58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32</a:t>
            </a:fld>
            <a:endParaRPr lang="en-IN"/>
          </a:p>
        </p:txBody>
      </p:sp>
    </p:spTree>
    <p:extLst>
      <p:ext uri="{BB962C8B-B14F-4D97-AF65-F5344CB8AC3E}">
        <p14:creationId xmlns:p14="http://schemas.microsoft.com/office/powerpoint/2010/main" val="1970454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CB47B-6EF9-DB17-CF11-5F78AA43C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D3423-6EF8-2F71-88FB-9A16E8642DCC}"/>
              </a:ext>
            </a:extLst>
          </p:cNvPr>
          <p:cNvSpPr>
            <a:spLocks noGrp="1"/>
          </p:cNvSpPr>
          <p:nvPr>
            <p:ph type="title"/>
          </p:nvPr>
        </p:nvSpPr>
        <p:spPr/>
        <p:txBody>
          <a:bodyPr>
            <a:normAutofit/>
          </a:bodyPr>
          <a:lstStyle/>
          <a:p>
            <a:r>
              <a:rPr lang="en-IN" sz="3600" b="1" dirty="0">
                <a:latin typeface="+mj-lt"/>
              </a:rPr>
              <a:t>OUTPUT</a:t>
            </a:r>
          </a:p>
        </p:txBody>
      </p:sp>
      <p:sp>
        <p:nvSpPr>
          <p:cNvPr id="3" name="Text Placeholder 2">
            <a:extLst>
              <a:ext uri="{FF2B5EF4-FFF2-40B4-BE49-F238E27FC236}">
                <a16:creationId xmlns:a16="http://schemas.microsoft.com/office/drawing/2014/main" id="{856B1941-86A5-F9E9-2A53-D032888DBF19}"/>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6EB13D8D-8CD1-99CD-9797-432AF9C1D8DA}"/>
              </a:ext>
            </a:extLst>
          </p:cNvPr>
          <p:cNvSpPr>
            <a:spLocks noGrp="1"/>
          </p:cNvSpPr>
          <p:nvPr>
            <p:ph type="body" idx="2"/>
          </p:nvPr>
        </p:nvSpPr>
        <p:spPr/>
        <p:txBody>
          <a:bodyPr/>
          <a:lstStyle/>
          <a:p>
            <a:endParaRPr lang="en-IN"/>
          </a:p>
        </p:txBody>
      </p:sp>
      <p:sp>
        <p:nvSpPr>
          <p:cNvPr id="5" name="Slide Number Placeholder 4">
            <a:extLst>
              <a:ext uri="{FF2B5EF4-FFF2-40B4-BE49-F238E27FC236}">
                <a16:creationId xmlns:a16="http://schemas.microsoft.com/office/drawing/2014/main" id="{486E4328-16A2-BA9C-8E31-ACDD2032A0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33</a:t>
            </a:fld>
            <a:endParaRPr lang="en-IN"/>
          </a:p>
        </p:txBody>
      </p:sp>
    </p:spTree>
    <p:extLst>
      <p:ext uri="{BB962C8B-B14F-4D97-AF65-F5344CB8AC3E}">
        <p14:creationId xmlns:p14="http://schemas.microsoft.com/office/powerpoint/2010/main" val="1707612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8"/>
          <p:cNvSpPr txBox="1">
            <a:spLocks noGrp="1"/>
          </p:cNvSpPr>
          <p:nvPr>
            <p:ph type="sldNum" idx="12"/>
          </p:nvPr>
        </p:nvSpPr>
        <p:spPr>
          <a:xfrm>
            <a:off x="11132597" y="6356350"/>
            <a:ext cx="736847" cy="276999"/>
          </a:xfrm>
          <a:prstGeom prst="rect">
            <a:avLst/>
          </a:prstGeom>
          <a:solidFill>
            <a:srgbClr val="002060"/>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N"/>
              <a:t>34</a:t>
            </a:fld>
            <a:endParaRPr lang="en-IN"/>
          </a:p>
        </p:txBody>
      </p:sp>
      <p:pic>
        <p:nvPicPr>
          <p:cNvPr id="155" name="Google Shape;155;p8" descr="How To Write A Thank You Note In Five Easy Steps"/>
          <p:cNvPicPr preferRelativeResize="0"/>
          <p:nvPr/>
        </p:nvPicPr>
        <p:blipFill rotWithShape="1">
          <a:blip r:embed="rId3"/>
          <a:srcRect/>
          <a:stretch>
            <a:fillRect/>
          </a:stretch>
        </p:blipFill>
        <p:spPr>
          <a:xfrm>
            <a:off x="2139950" y="1635512"/>
            <a:ext cx="7912100" cy="3810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1978</TotalTime>
  <Words>1598</Words>
  <Application>Microsoft Office PowerPoint</Application>
  <PresentationFormat>Widescreen</PresentationFormat>
  <Paragraphs>252</Paragraphs>
  <Slides>34</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Play</vt:lpstr>
      <vt:lpstr>Arial</vt:lpstr>
      <vt:lpstr>Times New Roman</vt:lpstr>
      <vt:lpstr>Office Theme</vt:lpstr>
      <vt:lpstr>FaceSense AI-An AI Driven Real-Time Video Interview System With Sentiment Analysis </vt:lpstr>
      <vt:lpstr>Contents</vt:lpstr>
      <vt:lpstr>PowerPoint Presentation</vt:lpstr>
      <vt:lpstr>Introduction</vt:lpstr>
      <vt:lpstr>Abstract</vt:lpstr>
      <vt:lpstr>Base Paper</vt:lpstr>
      <vt:lpstr>Literature Review</vt:lpstr>
      <vt:lpstr>Literature Review(contd…)</vt:lpstr>
      <vt:lpstr>Literature Review(contd…)</vt:lpstr>
      <vt:lpstr>Existing Project</vt:lpstr>
      <vt:lpstr>Drawbacks</vt:lpstr>
      <vt:lpstr>Problem Statement</vt:lpstr>
      <vt:lpstr>Proposed System</vt:lpstr>
      <vt:lpstr>Objectives</vt:lpstr>
      <vt:lpstr>Architecture</vt:lpstr>
      <vt:lpstr>Software and Hardware Requirements</vt:lpstr>
      <vt:lpstr>Modules</vt:lpstr>
      <vt:lpstr>Modules(contd…)</vt:lpstr>
      <vt:lpstr>Modules(contd…)</vt:lpstr>
      <vt:lpstr>Design Diagrams</vt:lpstr>
      <vt:lpstr>Activity Diagram</vt:lpstr>
      <vt:lpstr>Class Diagram</vt:lpstr>
      <vt:lpstr>Sequence Diagram</vt:lpstr>
      <vt:lpstr>Collaboration Diagram</vt:lpstr>
      <vt:lpstr>State Diagram</vt:lpstr>
      <vt:lpstr>Refined Class Diagram</vt:lpstr>
      <vt:lpstr>References</vt:lpstr>
      <vt:lpstr>TEST CASES</vt:lpstr>
      <vt:lpstr>TEST CASES</vt:lpstr>
      <vt:lpstr>OUTPUT</vt:lpstr>
      <vt:lpstr>OUTPUT</vt:lpstr>
      <vt:lpstr>OUTPUT</vt:lpstr>
      <vt:lpstr>OUTPUT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V R Naga Pawan Yallapragada</dc:creator>
  <cp:lastModifiedBy>Sameer Shaik</cp:lastModifiedBy>
  <cp:revision>22</cp:revision>
  <dcterms:created xsi:type="dcterms:W3CDTF">2025-10-24T02:30:41Z</dcterms:created>
  <dcterms:modified xsi:type="dcterms:W3CDTF">2026-01-28T08:08:13Z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FF3DD6080D544453B34CAF4027DE6D39_12</vt:lpwstr>
  </property>
  <property fmtid="{D5CDD505-2E9C-101B-9397-08002B2CF9AE}" pid="3" name="KSOProductBuildVer">
    <vt:lpwstr>1033-12.2.0.22549</vt:lpwstr>
  </property>
</Properties>
</file>